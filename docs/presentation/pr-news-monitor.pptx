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21288da4bed44e3" /><Relationship Type="http://schemas.openxmlformats.org/officeDocument/2006/relationships/extended-properties" Target="/docProps/app.xml" Id="Re5bdda28fad64527" /><Relationship Type="http://schemas.openxmlformats.org/officeDocument/2006/relationships/officeDocument" Target="/ppt/presentation.xml" Id="R0836d6c86eaf46ec" /></Relationships>
</file>

<file path=ppt/presentation.xml><?xml version="1.0" encoding="utf-8"?>
<p:presentation xmlns:p="http://schemas.openxmlformats.org/presentationml/2006/main">
  <p:sldMasterIdLst>
    <p:sldMasterId xmlns:r="http://schemas.openxmlformats.org/officeDocument/2006/relationships" id="2147483648" r:id="R56c1bfab92374ca7"/>
  </p:sldMasterIdLst>
  <p:notesMasterIdLst>
    <p:notesMasterId xmlns:r="http://schemas.openxmlformats.org/officeDocument/2006/relationships" r:id="R0f3b66025532434b"/>
  </p:notesMasterIdLst>
  <p:sldIdLst>
    <p:sldId xmlns:r="http://schemas.openxmlformats.org/officeDocument/2006/relationships" id="256" r:id="R7fdf07ae20ee422c"/>
    <p:sldId xmlns:r="http://schemas.openxmlformats.org/officeDocument/2006/relationships" id="257" r:id="Rdceabca2300647d3"/>
    <p:sldId xmlns:r="http://schemas.openxmlformats.org/officeDocument/2006/relationships" id="258" r:id="Rb2a73ad782d94341"/>
    <p:sldId xmlns:r="http://schemas.openxmlformats.org/officeDocument/2006/relationships" id="259" r:id="R77a2c634db264323"/>
    <p:sldId xmlns:r="http://schemas.openxmlformats.org/officeDocument/2006/relationships" id="260" r:id="R957d2fb81b844b85"/>
    <p:sldId xmlns:r="http://schemas.openxmlformats.org/officeDocument/2006/relationships" id="261" r:id="Rbd871e95533f44c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2578346e1254d97" /><Relationship Type="http://schemas.openxmlformats.org/officeDocument/2006/relationships/slideMaster" Target="/ppt/slideMasters/slideMaster1.xml" Id="R56c1bfab92374ca7" /><Relationship Type="http://schemas.openxmlformats.org/officeDocument/2006/relationships/notesMaster" Target="/ppt/notesMasters/notesMaster1.xml" Id="R0f3b66025532434b" /><Relationship Type="http://schemas.openxmlformats.org/officeDocument/2006/relationships/presProps" Target="/ppt/presProps.xml" Id="Rd50def4fcc7c47cd" /><Relationship Type="http://schemas.openxmlformats.org/officeDocument/2006/relationships/tableStyles" Target="/ppt/tableStyles.xml" Id="R42d3961185c64946" /><Relationship Type="http://schemas.openxmlformats.org/officeDocument/2006/relationships/slide" Target="/ppt/slides/slide1.xml" Id="R7fdf07ae20ee422c" /><Relationship Type="http://schemas.openxmlformats.org/officeDocument/2006/relationships/slide" Target="/ppt/slides/slide2.xml" Id="Rdceabca2300647d3" /><Relationship Type="http://schemas.openxmlformats.org/officeDocument/2006/relationships/slide" Target="/ppt/slides/slide3.xml" Id="Rb2a73ad782d94341" /><Relationship Type="http://schemas.openxmlformats.org/officeDocument/2006/relationships/slide" Target="/ppt/slides/slide4.xml" Id="R77a2c634db264323" /><Relationship Type="http://schemas.openxmlformats.org/officeDocument/2006/relationships/slide" Target="/ppt/slides/slide5.xml" Id="R957d2fb81b844b85" /><Relationship Type="http://schemas.openxmlformats.org/officeDocument/2006/relationships/slide" Target="/ppt/slides/slide6.xml" Id="Rbd871e95533f44c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9ff93607b6d4cd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70be4f8ef6141f3" /><Relationship Type="http://schemas.openxmlformats.org/officeDocument/2006/relationships/notesMaster" Target="/ppt/notesMasters/notesMaster1.xml" Id="R627b2d9eaf03490f" /></Relationships>
</file>

<file path=ppt/notesSlides/_rels/notesSlide2.xml.rels>&#65279;<?xml version="1.0" encoding="utf-8"?><Relationships xmlns="http://schemas.openxmlformats.org/package/2006/relationships"><Relationship Type="http://schemas.openxmlformats.org/officeDocument/2006/relationships/slide" Target="/ppt/slides/slide2.xml" Id="Rb2b49997e8464f74" /><Relationship Type="http://schemas.openxmlformats.org/officeDocument/2006/relationships/notesMaster" Target="/ppt/notesMasters/notesMaster1.xml" Id="Rbdea2c0cb97048a4" /></Relationships>
</file>

<file path=ppt/notesSlides/_rels/notesSlide3.xml.rels>&#65279;<?xml version="1.0" encoding="utf-8"?><Relationships xmlns="http://schemas.openxmlformats.org/package/2006/relationships"><Relationship Type="http://schemas.openxmlformats.org/officeDocument/2006/relationships/slide" Target="/ppt/slides/slide3.xml" Id="Rf288d251e2c443a8" /><Relationship Type="http://schemas.openxmlformats.org/officeDocument/2006/relationships/notesMaster" Target="/ppt/notesMasters/notesMaster1.xml" Id="Rc22a9369d1334f35" /></Relationships>
</file>

<file path=ppt/notesSlides/_rels/notesSlide4.xml.rels>&#65279;<?xml version="1.0" encoding="utf-8"?><Relationships xmlns="http://schemas.openxmlformats.org/package/2006/relationships"><Relationship Type="http://schemas.openxmlformats.org/officeDocument/2006/relationships/slide" Target="/ppt/slides/slide4.xml" Id="R5ca22e97c6e64f48" /><Relationship Type="http://schemas.openxmlformats.org/officeDocument/2006/relationships/notesMaster" Target="/ppt/notesMasters/notesMaster1.xml" Id="R4fd183666d6b4eef" /></Relationships>
</file>

<file path=ppt/notesSlides/_rels/notesSlide5.xml.rels>&#65279;<?xml version="1.0" encoding="utf-8"?><Relationships xmlns="http://schemas.openxmlformats.org/package/2006/relationships"><Relationship Type="http://schemas.openxmlformats.org/officeDocument/2006/relationships/slide" Target="/ppt/slides/slide5.xml" Id="R7775fa37d94544de" /><Relationship Type="http://schemas.openxmlformats.org/officeDocument/2006/relationships/notesMaster" Target="/ppt/notesMasters/notesMaster1.xml" Id="Rdf0c0dc9fecd4af0" /></Relationships>
</file>

<file path=ppt/notesSlides/_rels/notesSlide6.xml.rels>&#65279;<?xml version="1.0" encoding="utf-8"?><Relationships xmlns="http://schemas.openxmlformats.org/package/2006/relationships"><Relationship Type="http://schemas.openxmlformats.org/officeDocument/2006/relationships/slide" Target="/ppt/slides/slide6.xml" Id="Rb0e3fcf49b0a453b" /><Relationship Type="http://schemas.openxmlformats.org/officeDocument/2006/relationships/notesMaster" Target="/ppt/notesMasters/notesMaster1.xml" Id="R14f8ac5a8024444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0:00–0:35</a:t>
            </a:r>
          </a:p>
          <a:p xmlns:a="http://schemas.openxmlformats.org/drawingml/2006/main">
            <a:r>
              <a:t/>
            </a:r>
          </a:p>
          <a:p xmlns:a="http://schemas.openxmlformats.org/drawingml/2006/main">
            <a:r>
              <a:t>I built this for a PR team that needs to follow its company and competitors without reading the same story repeatedly. The demo tracks Equinix and Digital Realty, and the names are configurable in YAML. It shows grouped coverage with a short description and links to the original articles. I will show one story in the dashboard, then explain the main decisions and where I would improve it.</a:t>
            </a:r>
          </a:p>
          <a:p xmlns:a="http://schemas.openxmlformats.org/drawingml/2006/main">
            <a:r>
              <a:t/>
            </a:r>
          </a:p>
          <a:p xmlns:a="http://schemas.openxmlformats.org/drawingml/2006/main">
            <a:r>
              <a:t>Evidence: README.md, monitor/pipeline.py, docs/integration-check.md in the project.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0:35–1:30</a:t>
            </a:r>
          </a:p>
          <a:p xmlns:a="http://schemas.openxmlformats.org/drawingml/2006/main">
            <a:r>
              <a:t/>
            </a:r>
          </a:p>
          <a:p xmlns:a="http://schemas.openxmlformats.org/drawingml/2006/main">
            <a:r>
              <a:t>A refresh starts with NewsData.io and Data Centre Magazine. I save the metadata first, then use Newspaper4k to extract full text where possible. Similarity rules group related articles, and OpenRouter creates a description and labels each article for the feeds. One article can be relevant to both companies. SQLite stores the result, and the UI displays it after publication completes. The separation is straightforward: app.py handles presentation, pipeline.py coordinates the work, and the other modules own individual responsibilities. Normal page interactions only read saved results.</a:t>
            </a:r>
          </a:p>
          <a:p xmlns:a="http://schemas.openxmlformats.org/drawingml/2006/main">
            <a:r>
              <a:t/>
            </a:r>
          </a:p>
          <a:p xmlns:a="http://schemas.openxmlformats.org/drawingml/2006/main">
            <a:r>
              <a:t>Evidence: README.md, monitor/pipeline.py, docs/integration-check.md in the project.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1:30–2:25</a:t>
            </a:r>
          </a:p>
          <a:p xmlns:a="http://schemas.openxmlformats.org/drawingml/2006/main">
            <a:r>
              <a:t/>
            </a:r>
          </a:p>
          <a:p xmlns:a="http://schemas.openxmlformats.org/drawingml/2006/main">
            <a:r>
              <a:t>I chose Streamlit because this task needs a working dashboard and one deployment. SQLite gives us persistence without running another service. The trade-off is that this design assumes one app process. YAML keeps settings simple, although a settings screen would be easier for nontechnical users. TF-IDF grouping is cheap and understandable, but it can miss paraphrases or confuse similar events. I ask the LLM for the summary and relevance together, and reuse successful results when the inputs match. Pydantic validates the response structure and article IDs. It cannot prove that the summary is factually correct.</a:t>
            </a:r>
          </a:p>
          <a:p xmlns:a="http://schemas.openxmlformats.org/drawingml/2006/main">
            <a:r>
              <a:t/>
            </a:r>
          </a:p>
          <a:p xmlns:a="http://schemas.openxmlformats.org/drawingml/2006/main">
            <a:r>
              <a:t>Evidence: README.md, monitor/pipeline.py, docs/integration-check.md in the project.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2:25–3:25</a:t>
            </a:r>
          </a:p>
          <a:p xmlns:a="http://schemas.openxmlformats.org/drawingml/2006/main">
            <a:r>
              <a:t/>
            </a:r>
          </a:p>
          <a:p xmlns:a="http://schemas.openxmlformats.org/drawingml/2006/main">
            <a:r>
              <a:t>I handled failures as part of the normal flow. If a publisher blocks extraction, I keep the snippet and label the limitation. If one source fails, the other can still contribute. If both fail, the previous published results remain available. Missing keys, invalid model output, or the request budget trigger a headline and keyword fallback. A shared lock prevents overlapping refreshes in one process, while normal reruns do not call APIs. Unknown dates stay unknown. Changing the tracked companies hides old classifications until a new refresh. Grouping and source timestamps still have quality limits, which I would measure with a labeled sample.</a:t>
            </a:r>
          </a:p>
          <a:p xmlns:a="http://schemas.openxmlformats.org/drawingml/2006/main">
            <a:r>
              <a:t/>
            </a:r>
          </a:p>
          <a:p xmlns:a="http://schemas.openxmlformats.org/drawingml/2006/main">
            <a:r>
              <a:t>Evidence: README.md, monitor/pipeline.py, docs/integration-check.md in the project.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3:25–4:05</a:t>
            </a:r>
          </a:p>
          <a:p xmlns:a="http://schemas.openxmlformats.org/drawingml/2006/main">
            <a:r>
              <a:t/>
            </a:r>
          </a:p>
          <a:p xmlns:a="http://schemas.openxmlformats.org/drawingml/2006/main">
            <a:r>
              <a:t>The automated suite has 133 passing tests, locally and inside the Linux container. It covers data preservation, malformed responses, grouping examples, UI reruns, and concurrent refreshes. I also tested real sources and OpenRouter. Docker runs as a non-root user and stores SQLite in a named volume. A health check confirms that Streamlit is serving, while a real refresh checks the integrations. For the demo, I keep a completed refresh saved so provider latency does not interrupt the walkthrough. These checks demonstrate behavior. They are not a benchmark of summary or grouping accuracy.</a:t>
            </a:r>
          </a:p>
          <a:p xmlns:a="http://schemas.openxmlformats.org/drawingml/2006/main">
            <a:r>
              <a:t/>
            </a:r>
          </a:p>
          <a:p xmlns:a="http://schemas.openxmlformats.org/drawingml/2006/main">
            <a:r>
              <a:t>Evidence: README.md, monitor/pipeline.py, docs/integration-check.md in the project.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4:05–5:00</a:t>
            </a:r>
          </a:p>
          <a:p xmlns:a="http://schemas.openxmlformats.org/drawingml/2006/main">
            <a:r>
              <a:t/>
            </a:r>
          </a:p>
          <a:p xmlns:a="http://schemas.openxmlformats.org/drawingml/2006/main">
            <a:r>
              <a:t>First, I would build a labeled news sample and measure grouping, relevance, and summary quality. That tells me whether better thresholds, embeddings, or a different model actually help. For production, I would add authentication, managed secrets, API usage controls, and tested backups. Scheduled monitoring needs background jobs, durable retries, and metrics for failures and cost. Multiple workers would justify PostgreSQL and shared job coordination. On the UI, I would prioritize easier settings and clearer freshness before adding more features. I would introduce FastAPI or a separate frontend when other clients or richer interactions justify those extra boundaries.</a:t>
            </a:r>
          </a:p>
          <a:p xmlns:a="http://schemas.openxmlformats.org/drawingml/2006/main">
            <a:r>
              <a:t/>
            </a:r>
          </a:p>
          <a:p xmlns:a="http://schemas.openxmlformats.org/drawingml/2006/main">
            <a:r>
              <a:t>Evidence: README.md, monitor/pipeline.py, docs/integration-check.md in the project.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853d2618ddd469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7c0ff9214ce43f9" /><Relationship Type="http://schemas.openxmlformats.org/officeDocument/2006/relationships/slideLayout" Target="/ppt/slideLayouts/slideLayout1.xml" Id="Rac5b990a075e46c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c5b990a075e46c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960462cc5e84681" /><Relationship Type="http://schemas.openxmlformats.org/officeDocument/2006/relationships/notesSlide" Target="/ppt/notesSlides/notesSlide1.xml" Id="R847f5631bcc84ed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1e5c34c1f8274050" /><Relationship Type="http://schemas.openxmlformats.org/officeDocument/2006/relationships/notesSlide" Target="/ppt/notesSlides/notesSlide2.xml" Id="R8510533e0c31469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b95da197f014539" /><Relationship Type="http://schemas.openxmlformats.org/officeDocument/2006/relationships/notesSlide" Target="/ppt/notesSlides/notesSlide3.xml" Id="R4b2afdca80a747a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903343b9d134ad0" /><Relationship Type="http://schemas.openxmlformats.org/officeDocument/2006/relationships/notesSlide" Target="/ppt/notesSlides/notesSlide4.xml" Id="Re2b25989cbce47b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b60c468a8b34110" /><Relationship Type="http://schemas.openxmlformats.org/officeDocument/2006/relationships/notesSlide" Target="/ppt/notesSlides/notesSlide5.xml" Id="Rd2b8c8bae978436c"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c97d02eeab8c492e" /><Relationship Type="http://schemas.openxmlformats.org/officeDocument/2006/relationships/notesSlide" Target="/ppt/notesSlides/notesSlide6.xml" Id="R8bcab4ba1b984d35"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11CBD4A3-0410-4440-B374-C09EA53AD3DD}"/>
              </a:ext>
            </a:extLst>
          </p:cNvPr>
          <p:cNvSpPr>
            <a:spLocks xmlns:a="http://schemas.openxmlformats.org/drawingml/2006/main" noGrp="1"/>
          </p:cNvSpPr>
          <p:nvPr/>
        </p:nvSpPr>
        <p:spPr>
          <a:xfrm xmlns:a="http://schemas.openxmlformats.org/drawingml/2006/main">
            <a:off x="723900" y="590550"/>
            <a:ext cx="107442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72B4D"/>
                </a:solidFill>
                <a:latin typeface="Helvetica Neue"/>
                <a:ea typeface="Helvetica Neue"/>
                <a:cs typeface="Helvetica Neue"/>
              </a:defRPr>
            </a:pPr>
            <a:r>
              <a:rPr sz="3450" b="1">
                <a:solidFill>
                  <a:srgbClr val="172B4D"/>
                </a:solidFill>
                <a:latin typeface="Helvetica Neue"/>
                <a:ea typeface="Helvetica Neue"/>
                <a:cs typeface="Helvetica Neue"/>
              </a:rPr>
              <a:t>PR News Monitor</a:t>
            </a:r>
          </a:p>
        </p:txBody>
      </p:sp>
      <p:sp>
        <p:nvSpPr>
          <p:cNvPr id="2" name="">
            <a:extLst xmlns:a="http://schemas.openxmlformats.org/drawingml/2006/main">
              <a:ext uri="{FF2B5EF4-FFF2-40B4-BE49-F238E27FC236}">
                <a16:creationId xmlns:a16="http://schemas.microsoft.com/office/drawing/2014/main" id="{8C8412E2-B748-4C68-95CE-F5810F4963CC}"/>
              </a:ext>
            </a:extLst>
          </p:cNvPr>
          <p:cNvSpPr>
            <a:spLocks xmlns:a="http://schemas.openxmlformats.org/drawingml/2006/main" noGrp="1"/>
          </p:cNvSpPr>
          <p:nvPr/>
        </p:nvSpPr>
        <p:spPr>
          <a:xfrm xmlns:a="http://schemas.openxmlformats.org/drawingml/2006/main">
            <a:off x="10953750" y="6238875"/>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26176"/>
                </a:solidFill>
                <a:latin typeface="Helvetica Neue"/>
                <a:ea typeface="Helvetica Neue"/>
                <a:cs typeface="Helvetica Neue"/>
              </a:defRPr>
            </a:pPr>
            <a:r>
              <a:rPr sz="1500" b="0">
                <a:solidFill>
                  <a:srgbClr val="526176"/>
                </a:solidFill>
                <a:latin typeface="Helvetica Neue"/>
                <a:ea typeface="Helvetica Neue"/>
                <a:cs typeface="Helvetica Neue"/>
              </a:rPr>
              <a:t>01</a:t>
            </a:r>
          </a:p>
        </p:txBody>
      </p:sp>
      <p:sp>
        <p:nvSpPr>
          <p:cNvPr id="3" name="">
            <a:extLst xmlns:a="http://schemas.openxmlformats.org/drawingml/2006/main">
              <a:ext uri="{FF2B5EF4-FFF2-40B4-BE49-F238E27FC236}">
                <a16:creationId xmlns:a16="http://schemas.microsoft.com/office/drawing/2014/main" id="{7416A4B6-DA77-49E4-85C5-8FB1A74D43C8}"/>
              </a:ext>
            </a:extLst>
          </p:cNvPr>
          <p:cNvSpPr>
            <a:spLocks xmlns:a="http://schemas.openxmlformats.org/drawingml/2006/main" noGrp="1"/>
          </p:cNvSpPr>
          <p:nvPr/>
        </p:nvSpPr>
        <p:spPr>
          <a:xfrm xmlns:a="http://schemas.openxmlformats.org/drawingml/2006/main">
            <a:off x="723900" y="2143125"/>
            <a:ext cx="10477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900" b="1">
                <a:solidFill>
                  <a:srgbClr val="2358A5"/>
                </a:solidFill>
                <a:latin typeface="Helvetica Neue"/>
                <a:ea typeface="Helvetica Neue"/>
                <a:cs typeface="Helvetica Neue"/>
              </a:defRPr>
            </a:pPr>
            <a:r>
              <a:rPr sz="3900" b="1">
                <a:solidFill>
                  <a:srgbClr val="2358A5"/>
                </a:solidFill>
                <a:latin typeface="Helvetica Neue"/>
                <a:ea typeface="Helvetica Neue"/>
                <a:cs typeface="Helvetica Neue"/>
              </a:rPr>
              <a:t>Company and competitor news</a:t>
            </a:r>
          </a:p>
          <a:p xmlns:a="http://schemas.openxmlformats.org/drawingml/2006/main">
            <a:pPr>
              <a:defRPr sz="3900" b="1">
                <a:solidFill>
                  <a:srgbClr val="2358A5"/>
                </a:solidFill>
                <a:latin typeface="Helvetica Neue"/>
                <a:ea typeface="Helvetica Neue"/>
                <a:cs typeface="Helvetica Neue"/>
              </a:defRPr>
            </a:pPr>
            <a:r>
              <a:rPr sz="3900" b="1">
                <a:solidFill>
                  <a:srgbClr val="2358A5"/>
                </a:solidFill>
                <a:latin typeface="Helvetica Neue"/>
                <a:ea typeface="Helvetica Neue"/>
                <a:cs typeface="Helvetica Neue"/>
              </a:rPr>
              <a:t>in one place</a:t>
            </a:r>
          </a:p>
        </p:txBody>
      </p:sp>
      <p:sp>
        <p:nvSpPr>
          <p:cNvPr id="4" name="">
            <a:extLst xmlns:a="http://schemas.openxmlformats.org/drawingml/2006/main">
              <a:ext uri="{FF2B5EF4-FFF2-40B4-BE49-F238E27FC236}">
                <a16:creationId xmlns:a16="http://schemas.microsoft.com/office/drawing/2014/main" id="{7F126DC3-0724-4B2E-B0A8-7F14F10DD279}"/>
              </a:ext>
            </a:extLst>
          </p:cNvPr>
          <p:cNvSpPr>
            <a:spLocks xmlns:a="http://schemas.openxmlformats.org/drawingml/2006/main" noGrp="1"/>
          </p:cNvSpPr>
          <p:nvPr/>
        </p:nvSpPr>
        <p:spPr>
          <a:xfrm xmlns:a="http://schemas.openxmlformats.org/drawingml/2006/main">
            <a:off x="723900" y="4191000"/>
            <a:ext cx="1028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526176"/>
                </a:solidFill>
                <a:latin typeface="Helvetica Neue"/>
                <a:ea typeface="Helvetica Neue"/>
                <a:cs typeface="Helvetica Neue"/>
              </a:defRPr>
            </a:pPr>
            <a:r>
              <a:rPr sz="2250" b="0">
                <a:solidFill>
                  <a:srgbClr val="526176"/>
                </a:solidFill>
                <a:latin typeface="Helvetica Neue"/>
                <a:ea typeface="Helvetica Neue"/>
                <a:cs typeface="Helvetica Neue"/>
              </a:rPr>
              <a:t>Grouped stories with summaries and original coverage</a:t>
            </a:r>
          </a:p>
        </p:txBody>
      </p:sp>
    </p:spTree>
    <p:extLst>
      <p:ext uri="{BB962C8B-B14F-4D97-AF65-F5344CB8AC3E}">
        <p14:creationId xmlns:p14="http://schemas.microsoft.com/office/powerpoint/2010/main" val="36367317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CC554AB8-5559-4AA4-BF75-B96A84B91961}"/>
              </a:ext>
            </a:extLst>
          </p:cNvPr>
          <p:cNvSpPr>
            <a:spLocks xmlns:a="http://schemas.openxmlformats.org/drawingml/2006/main" noGrp="1"/>
          </p:cNvSpPr>
          <p:nvPr/>
        </p:nvSpPr>
        <p:spPr>
          <a:xfrm xmlns:a="http://schemas.openxmlformats.org/drawingml/2006/main">
            <a:off x="723900" y="590550"/>
            <a:ext cx="107442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72B4D"/>
                </a:solidFill>
                <a:latin typeface="Helvetica Neue"/>
                <a:ea typeface="Helvetica Neue"/>
                <a:cs typeface="Helvetica Neue"/>
              </a:defRPr>
            </a:pPr>
            <a:r>
              <a:rPr sz="3450" b="1">
                <a:solidFill>
                  <a:srgbClr val="172B4D"/>
                </a:solidFill>
                <a:latin typeface="Helvetica Neue"/>
                <a:ea typeface="Helvetica Neue"/>
                <a:cs typeface="Helvetica Neue"/>
              </a:rPr>
              <a:t>How a refresh works</a:t>
            </a:r>
          </a:p>
        </p:txBody>
      </p:sp>
      <p:sp>
        <p:nvSpPr>
          <p:cNvPr id="2" name="">
            <a:extLst xmlns:a="http://schemas.openxmlformats.org/drawingml/2006/main">
              <a:ext uri="{FF2B5EF4-FFF2-40B4-BE49-F238E27FC236}">
                <a16:creationId xmlns:a16="http://schemas.microsoft.com/office/drawing/2014/main" id="{861F0F0A-91DE-4188-BE5F-9B6C761BD426}"/>
              </a:ext>
            </a:extLst>
          </p:cNvPr>
          <p:cNvSpPr>
            <a:spLocks xmlns:a="http://schemas.openxmlformats.org/drawingml/2006/main" noGrp="1"/>
          </p:cNvSpPr>
          <p:nvPr/>
        </p:nvSpPr>
        <p:spPr>
          <a:xfrm xmlns:a="http://schemas.openxmlformats.org/drawingml/2006/main">
            <a:off x="10953750" y="6238875"/>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26176"/>
                </a:solidFill>
                <a:latin typeface="Helvetica Neue"/>
                <a:ea typeface="Helvetica Neue"/>
                <a:cs typeface="Helvetica Neue"/>
              </a:defRPr>
            </a:pPr>
            <a:r>
              <a:rPr sz="1500" b="0">
                <a:solidFill>
                  <a:srgbClr val="526176"/>
                </a:solidFill>
                <a:latin typeface="Helvetica Neue"/>
                <a:ea typeface="Helvetica Neue"/>
                <a:cs typeface="Helvetica Neue"/>
              </a:rPr>
              <a:t>02</a:t>
            </a:r>
          </a:p>
        </p:txBody>
      </p:sp>
      <p:sp>
        <p:nvSpPr>
          <p:cNvPr id="3" name="">
            <a:extLst xmlns:a="http://schemas.openxmlformats.org/drawingml/2006/main">
              <a:ext uri="{FF2B5EF4-FFF2-40B4-BE49-F238E27FC236}">
                <a16:creationId xmlns:a16="http://schemas.microsoft.com/office/drawing/2014/main" id="{7B2BA98F-8791-47C0-9D5C-4C369DA7E264}"/>
              </a:ext>
            </a:extLst>
          </p:cNvPr>
          <p:cNvSpPr>
            <a:spLocks xmlns:a="http://schemas.openxmlformats.org/drawingml/2006/main" noGrp="1"/>
          </p:cNvSpPr>
          <p:nvPr/>
        </p:nvSpPr>
        <p:spPr>
          <a:xfrm xmlns:a="http://schemas.openxmlformats.org/drawingml/2006/main">
            <a:off x="723900" y="1762125"/>
            <a:ext cx="523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2358A5"/>
                </a:solidFill>
                <a:latin typeface="Helvetica Neue"/>
                <a:ea typeface="Helvetica Neue"/>
                <a:cs typeface="Helvetica Neue"/>
              </a:defRPr>
            </a:pPr>
            <a:r>
              <a:rPr sz="2550" b="1">
                <a:solidFill>
                  <a:srgbClr val="2358A5"/>
                </a:solidFill>
                <a:latin typeface="Helvetica Neue"/>
                <a:ea typeface="Helvetica Neue"/>
                <a:cs typeface="Helvetica Neue"/>
              </a:rPr>
              <a:t>1</a:t>
            </a:r>
          </a:p>
        </p:txBody>
      </p:sp>
      <p:sp>
        <p:nvSpPr>
          <p:cNvPr id="4" name="">
            <a:extLst xmlns:a="http://schemas.openxmlformats.org/drawingml/2006/main">
              <a:ext uri="{FF2B5EF4-FFF2-40B4-BE49-F238E27FC236}">
                <a16:creationId xmlns:a16="http://schemas.microsoft.com/office/drawing/2014/main" id="{096C2EA4-AF77-4CED-8C41-898937536D8C}"/>
              </a:ext>
            </a:extLst>
          </p:cNvPr>
          <p:cNvSpPr>
            <a:spLocks xmlns:a="http://schemas.openxmlformats.org/drawingml/2006/main" noGrp="1"/>
          </p:cNvSpPr>
          <p:nvPr/>
        </p:nvSpPr>
        <p:spPr>
          <a:xfrm xmlns:a="http://schemas.openxmlformats.org/drawingml/2006/main">
            <a:off x="1409700" y="1762125"/>
            <a:ext cx="304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172B4D"/>
                </a:solidFill>
                <a:latin typeface="Helvetica Neue"/>
                <a:ea typeface="Helvetica Neue"/>
                <a:cs typeface="Helvetica Neue"/>
              </a:defRPr>
            </a:pPr>
            <a:r>
              <a:rPr sz="2325" b="1">
                <a:solidFill>
                  <a:srgbClr val="172B4D"/>
                </a:solidFill>
                <a:latin typeface="Helvetica Neue"/>
                <a:ea typeface="Helvetica Neue"/>
                <a:cs typeface="Helvetica Neue"/>
              </a:rPr>
              <a:t>Discover</a:t>
            </a:r>
          </a:p>
        </p:txBody>
      </p:sp>
      <p:sp>
        <p:nvSpPr>
          <p:cNvPr id="5" name="">
            <a:extLst xmlns:a="http://schemas.openxmlformats.org/drawingml/2006/main">
              <a:ext uri="{FF2B5EF4-FFF2-40B4-BE49-F238E27FC236}">
                <a16:creationId xmlns:a16="http://schemas.microsoft.com/office/drawing/2014/main" id="{C7AC2903-56CA-4965-84F3-03B707F9743E}"/>
              </a:ext>
            </a:extLst>
          </p:cNvPr>
          <p:cNvSpPr>
            <a:spLocks xmlns:a="http://schemas.openxmlformats.org/drawingml/2006/main" noGrp="1"/>
          </p:cNvSpPr>
          <p:nvPr/>
        </p:nvSpPr>
        <p:spPr>
          <a:xfrm xmlns:a="http://schemas.openxmlformats.org/drawingml/2006/main">
            <a:off x="4619625" y="1790700"/>
            <a:ext cx="6762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526176"/>
                </a:solidFill>
                <a:latin typeface="Helvetica Neue"/>
                <a:ea typeface="Helvetica Neue"/>
                <a:cs typeface="Helvetica Neue"/>
              </a:defRPr>
            </a:pPr>
            <a:r>
              <a:rPr sz="2100" b="0">
                <a:solidFill>
                  <a:srgbClr val="526176"/>
                </a:solidFill>
                <a:latin typeface="Helvetica Neue"/>
                <a:ea typeface="Helvetica Neue"/>
                <a:cs typeface="Helvetica Neue"/>
              </a:rPr>
              <a:t>NewsData.io and Data Centre Magazine</a:t>
            </a:r>
          </a:p>
        </p:txBody>
      </p:sp>
      <p:sp>
        <p:nvSpPr>
          <p:cNvPr id="6" name="">
            <a:extLst xmlns:a="http://schemas.openxmlformats.org/drawingml/2006/main">
              <a:ext uri="{FF2B5EF4-FFF2-40B4-BE49-F238E27FC236}">
                <a16:creationId xmlns:a16="http://schemas.microsoft.com/office/drawing/2014/main" id="{4D81611D-E8BA-4697-AB55-E10C40E8BE70}"/>
              </a:ext>
            </a:extLst>
          </p:cNvPr>
          <p:cNvSpPr>
            <a:spLocks xmlns:a="http://schemas.openxmlformats.org/drawingml/2006/main" noGrp="1"/>
          </p:cNvSpPr>
          <p:nvPr/>
        </p:nvSpPr>
        <p:spPr>
          <a:xfrm xmlns:a="http://schemas.openxmlformats.org/drawingml/2006/main">
            <a:off x="723900" y="2724150"/>
            <a:ext cx="523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2358A5"/>
                </a:solidFill>
                <a:latin typeface="Helvetica Neue"/>
                <a:ea typeface="Helvetica Neue"/>
                <a:cs typeface="Helvetica Neue"/>
              </a:defRPr>
            </a:pPr>
            <a:r>
              <a:rPr sz="2550" b="1">
                <a:solidFill>
                  <a:srgbClr val="2358A5"/>
                </a:solidFill>
                <a:latin typeface="Helvetica Neue"/>
                <a:ea typeface="Helvetica Neue"/>
                <a:cs typeface="Helvetica Neue"/>
              </a:rPr>
              <a:t>2</a:t>
            </a:r>
          </a:p>
        </p:txBody>
      </p:sp>
      <p:sp>
        <p:nvSpPr>
          <p:cNvPr id="7" name="">
            <a:extLst xmlns:a="http://schemas.openxmlformats.org/drawingml/2006/main">
              <a:ext uri="{FF2B5EF4-FFF2-40B4-BE49-F238E27FC236}">
                <a16:creationId xmlns:a16="http://schemas.microsoft.com/office/drawing/2014/main" id="{9A11CF5D-8CEF-46C2-AAA9-C2AA299E2D47}"/>
              </a:ext>
            </a:extLst>
          </p:cNvPr>
          <p:cNvSpPr>
            <a:spLocks xmlns:a="http://schemas.openxmlformats.org/drawingml/2006/main" noGrp="1"/>
          </p:cNvSpPr>
          <p:nvPr/>
        </p:nvSpPr>
        <p:spPr>
          <a:xfrm xmlns:a="http://schemas.openxmlformats.org/drawingml/2006/main">
            <a:off x="1409700" y="2724150"/>
            <a:ext cx="304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172B4D"/>
                </a:solidFill>
                <a:latin typeface="Helvetica Neue"/>
                <a:ea typeface="Helvetica Neue"/>
                <a:cs typeface="Helvetica Neue"/>
              </a:defRPr>
            </a:pPr>
            <a:r>
              <a:rPr sz="2325" b="1">
                <a:solidFill>
                  <a:srgbClr val="172B4D"/>
                </a:solidFill>
                <a:latin typeface="Helvetica Neue"/>
                <a:ea typeface="Helvetica Neue"/>
                <a:cs typeface="Helvetica Neue"/>
              </a:rPr>
              <a:t>Extract and save</a:t>
            </a:r>
          </a:p>
        </p:txBody>
      </p:sp>
      <p:sp>
        <p:nvSpPr>
          <p:cNvPr id="8" name="">
            <a:extLst xmlns:a="http://schemas.openxmlformats.org/drawingml/2006/main">
              <a:ext uri="{FF2B5EF4-FFF2-40B4-BE49-F238E27FC236}">
                <a16:creationId xmlns:a16="http://schemas.microsoft.com/office/drawing/2014/main" id="{D210D01A-BE74-46F4-8280-3CB48544E800}"/>
              </a:ext>
            </a:extLst>
          </p:cNvPr>
          <p:cNvSpPr>
            <a:spLocks xmlns:a="http://schemas.openxmlformats.org/drawingml/2006/main" noGrp="1"/>
          </p:cNvSpPr>
          <p:nvPr/>
        </p:nvSpPr>
        <p:spPr>
          <a:xfrm xmlns:a="http://schemas.openxmlformats.org/drawingml/2006/main">
            <a:off x="4619625" y="2752725"/>
            <a:ext cx="6762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526176"/>
                </a:solidFill>
                <a:latin typeface="Helvetica Neue"/>
                <a:ea typeface="Helvetica Neue"/>
                <a:cs typeface="Helvetica Neue"/>
              </a:defRPr>
            </a:pPr>
            <a:r>
              <a:rPr sz="2100" b="0">
                <a:solidFill>
                  <a:srgbClr val="526176"/>
                </a:solidFill>
                <a:latin typeface="Helvetica Neue"/>
                <a:ea typeface="Helvetica Neue"/>
                <a:cs typeface="Helvetica Neue"/>
              </a:rPr>
              <a:t>Full text when available, snippets when it fails</a:t>
            </a:r>
          </a:p>
        </p:txBody>
      </p:sp>
      <p:sp>
        <p:nvSpPr>
          <p:cNvPr id="9" name="">
            <a:extLst xmlns:a="http://schemas.openxmlformats.org/drawingml/2006/main">
              <a:ext uri="{FF2B5EF4-FFF2-40B4-BE49-F238E27FC236}">
                <a16:creationId xmlns:a16="http://schemas.microsoft.com/office/drawing/2014/main" id="{1C697B68-3FEE-4DEA-A9B9-56A5CFA3EC0B}"/>
              </a:ext>
            </a:extLst>
          </p:cNvPr>
          <p:cNvSpPr>
            <a:spLocks xmlns:a="http://schemas.openxmlformats.org/drawingml/2006/main" noGrp="1"/>
          </p:cNvSpPr>
          <p:nvPr/>
        </p:nvSpPr>
        <p:spPr>
          <a:xfrm xmlns:a="http://schemas.openxmlformats.org/drawingml/2006/main">
            <a:off x="723900" y="3686175"/>
            <a:ext cx="523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2358A5"/>
                </a:solidFill>
                <a:latin typeface="Helvetica Neue"/>
                <a:ea typeface="Helvetica Neue"/>
                <a:cs typeface="Helvetica Neue"/>
              </a:defRPr>
            </a:pPr>
            <a:r>
              <a:rPr sz="2550" b="1">
                <a:solidFill>
                  <a:srgbClr val="2358A5"/>
                </a:solidFill>
                <a:latin typeface="Helvetica Neue"/>
                <a:ea typeface="Helvetica Neue"/>
                <a:cs typeface="Helvetica Neue"/>
              </a:rPr>
              <a:t>3</a:t>
            </a:r>
          </a:p>
        </p:txBody>
      </p:sp>
      <p:sp>
        <p:nvSpPr>
          <p:cNvPr id="10" name="">
            <a:extLst xmlns:a="http://schemas.openxmlformats.org/drawingml/2006/main">
              <a:ext uri="{FF2B5EF4-FFF2-40B4-BE49-F238E27FC236}">
                <a16:creationId xmlns:a16="http://schemas.microsoft.com/office/drawing/2014/main" id="{E4970850-C978-410B-AD50-E76E87762917}"/>
              </a:ext>
            </a:extLst>
          </p:cNvPr>
          <p:cNvSpPr>
            <a:spLocks xmlns:a="http://schemas.openxmlformats.org/drawingml/2006/main" noGrp="1"/>
          </p:cNvSpPr>
          <p:nvPr/>
        </p:nvSpPr>
        <p:spPr>
          <a:xfrm xmlns:a="http://schemas.openxmlformats.org/drawingml/2006/main">
            <a:off x="1409700" y="3686175"/>
            <a:ext cx="304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172B4D"/>
                </a:solidFill>
                <a:latin typeface="Helvetica Neue"/>
                <a:ea typeface="Helvetica Neue"/>
                <a:cs typeface="Helvetica Neue"/>
              </a:defRPr>
            </a:pPr>
            <a:r>
              <a:rPr sz="2325" b="1">
                <a:solidFill>
                  <a:srgbClr val="172B4D"/>
                </a:solidFill>
                <a:latin typeface="Helvetica Neue"/>
                <a:ea typeface="Helvetica Neue"/>
                <a:cs typeface="Helvetica Neue"/>
              </a:rPr>
              <a:t>Group and analyze</a:t>
            </a:r>
          </a:p>
        </p:txBody>
      </p:sp>
      <p:sp>
        <p:nvSpPr>
          <p:cNvPr id="11" name="">
            <a:extLst xmlns:a="http://schemas.openxmlformats.org/drawingml/2006/main">
              <a:ext uri="{FF2B5EF4-FFF2-40B4-BE49-F238E27FC236}">
                <a16:creationId xmlns:a16="http://schemas.microsoft.com/office/drawing/2014/main" id="{F626AFA9-B00C-4B69-B3AD-8DAC8C9D50BC}"/>
              </a:ext>
            </a:extLst>
          </p:cNvPr>
          <p:cNvSpPr>
            <a:spLocks xmlns:a="http://schemas.openxmlformats.org/drawingml/2006/main" noGrp="1"/>
          </p:cNvSpPr>
          <p:nvPr/>
        </p:nvSpPr>
        <p:spPr>
          <a:xfrm xmlns:a="http://schemas.openxmlformats.org/drawingml/2006/main">
            <a:off x="4619625" y="3714750"/>
            <a:ext cx="6762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526176"/>
                </a:solidFill>
                <a:latin typeface="Helvetica Neue"/>
                <a:ea typeface="Helvetica Neue"/>
                <a:cs typeface="Helvetica Neue"/>
              </a:defRPr>
            </a:pPr>
            <a:r>
              <a:rPr sz="2100" b="0">
                <a:solidFill>
                  <a:srgbClr val="526176"/>
                </a:solidFill>
                <a:latin typeface="Helvetica Neue"/>
                <a:ea typeface="Helvetica Neue"/>
                <a:cs typeface="Helvetica Neue"/>
              </a:rPr>
              <a:t>Text similarity, then LLM summary and relevance</a:t>
            </a:r>
          </a:p>
        </p:txBody>
      </p:sp>
      <p:sp>
        <p:nvSpPr>
          <p:cNvPr id="12" name="">
            <a:extLst xmlns:a="http://schemas.openxmlformats.org/drawingml/2006/main">
              <a:ext uri="{FF2B5EF4-FFF2-40B4-BE49-F238E27FC236}">
                <a16:creationId xmlns:a16="http://schemas.microsoft.com/office/drawing/2014/main" id="{CFED2D40-2779-4323-BA29-1B62CD137ADC}"/>
              </a:ext>
            </a:extLst>
          </p:cNvPr>
          <p:cNvSpPr>
            <a:spLocks xmlns:a="http://schemas.openxmlformats.org/drawingml/2006/main" noGrp="1"/>
          </p:cNvSpPr>
          <p:nvPr/>
        </p:nvSpPr>
        <p:spPr>
          <a:xfrm xmlns:a="http://schemas.openxmlformats.org/drawingml/2006/main">
            <a:off x="723900" y="4648200"/>
            <a:ext cx="523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2358A5"/>
                </a:solidFill>
                <a:latin typeface="Helvetica Neue"/>
                <a:ea typeface="Helvetica Neue"/>
                <a:cs typeface="Helvetica Neue"/>
              </a:defRPr>
            </a:pPr>
            <a:r>
              <a:rPr sz="2550" b="1">
                <a:solidFill>
                  <a:srgbClr val="2358A5"/>
                </a:solidFill>
                <a:latin typeface="Helvetica Neue"/>
                <a:ea typeface="Helvetica Neue"/>
                <a:cs typeface="Helvetica Neue"/>
              </a:rPr>
              <a:t>4</a:t>
            </a:r>
          </a:p>
        </p:txBody>
      </p:sp>
      <p:sp>
        <p:nvSpPr>
          <p:cNvPr id="13" name="">
            <a:extLst xmlns:a="http://schemas.openxmlformats.org/drawingml/2006/main">
              <a:ext uri="{FF2B5EF4-FFF2-40B4-BE49-F238E27FC236}">
                <a16:creationId xmlns:a16="http://schemas.microsoft.com/office/drawing/2014/main" id="{3B4DD8B4-B0D3-48D4-AD53-CD0D64591C39}"/>
              </a:ext>
            </a:extLst>
          </p:cNvPr>
          <p:cNvSpPr>
            <a:spLocks xmlns:a="http://schemas.openxmlformats.org/drawingml/2006/main" noGrp="1"/>
          </p:cNvSpPr>
          <p:nvPr/>
        </p:nvSpPr>
        <p:spPr>
          <a:xfrm xmlns:a="http://schemas.openxmlformats.org/drawingml/2006/main">
            <a:off x="1409700" y="4648200"/>
            <a:ext cx="304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172B4D"/>
                </a:solidFill>
                <a:latin typeface="Helvetica Neue"/>
                <a:ea typeface="Helvetica Neue"/>
                <a:cs typeface="Helvetica Neue"/>
              </a:defRPr>
            </a:pPr>
            <a:r>
              <a:rPr sz="2325" b="1">
                <a:solidFill>
                  <a:srgbClr val="172B4D"/>
                </a:solidFill>
                <a:latin typeface="Helvetica Neue"/>
                <a:ea typeface="Helvetica Neue"/>
                <a:cs typeface="Helvetica Neue"/>
              </a:rPr>
              <a:t>Publish</a:t>
            </a:r>
          </a:p>
        </p:txBody>
      </p:sp>
      <p:sp>
        <p:nvSpPr>
          <p:cNvPr id="14" name="">
            <a:extLst xmlns:a="http://schemas.openxmlformats.org/drawingml/2006/main">
              <a:ext uri="{FF2B5EF4-FFF2-40B4-BE49-F238E27FC236}">
                <a16:creationId xmlns:a16="http://schemas.microsoft.com/office/drawing/2014/main" id="{581B161A-C14C-4E43-B1B8-82DE3191B7E4}"/>
              </a:ext>
            </a:extLst>
          </p:cNvPr>
          <p:cNvSpPr>
            <a:spLocks xmlns:a="http://schemas.openxmlformats.org/drawingml/2006/main" noGrp="1"/>
          </p:cNvSpPr>
          <p:nvPr/>
        </p:nvSpPr>
        <p:spPr>
          <a:xfrm xmlns:a="http://schemas.openxmlformats.org/drawingml/2006/main">
            <a:off x="4619625" y="4676775"/>
            <a:ext cx="6762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526176"/>
                </a:solidFill>
                <a:latin typeface="Helvetica Neue"/>
                <a:ea typeface="Helvetica Neue"/>
                <a:cs typeface="Helvetica Neue"/>
              </a:defRPr>
            </a:pPr>
            <a:r>
              <a:rPr sz="2100" b="0">
                <a:solidFill>
                  <a:srgbClr val="526176"/>
                </a:solidFill>
                <a:latin typeface="Helvetica Neue"/>
                <a:ea typeface="Helvetica Neue"/>
                <a:cs typeface="Helvetica Neue"/>
              </a:rPr>
              <a:t>Save the completed snapshot and show both feeds</a:t>
            </a:r>
          </a:p>
        </p:txBody>
      </p:sp>
    </p:spTree>
    <p:extLst>
      <p:ext uri="{BB962C8B-B14F-4D97-AF65-F5344CB8AC3E}">
        <p14:creationId xmlns:p14="http://schemas.microsoft.com/office/powerpoint/2010/main" val="192597288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EE5CAD81-EF00-438B-AE28-8506CF02FD1F}"/>
              </a:ext>
            </a:extLst>
          </p:cNvPr>
          <p:cNvSpPr>
            <a:spLocks xmlns:a="http://schemas.openxmlformats.org/drawingml/2006/main" noGrp="1"/>
          </p:cNvSpPr>
          <p:nvPr/>
        </p:nvSpPr>
        <p:spPr>
          <a:xfrm xmlns:a="http://schemas.openxmlformats.org/drawingml/2006/main">
            <a:off x="723900" y="590550"/>
            <a:ext cx="107442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72B4D"/>
                </a:solidFill>
                <a:latin typeface="Helvetica Neue"/>
                <a:ea typeface="Helvetica Neue"/>
                <a:cs typeface="Helvetica Neue"/>
              </a:defRPr>
            </a:pPr>
            <a:r>
              <a:rPr sz="3450" b="1">
                <a:solidFill>
                  <a:srgbClr val="172B4D"/>
                </a:solidFill>
                <a:latin typeface="Helvetica Neue"/>
                <a:ea typeface="Helvetica Neue"/>
                <a:cs typeface="Helvetica Neue"/>
              </a:rPr>
              <a:t>Key choices and trade-offs</a:t>
            </a:r>
          </a:p>
        </p:txBody>
      </p:sp>
      <p:sp>
        <p:nvSpPr>
          <p:cNvPr id="2" name="">
            <a:extLst xmlns:a="http://schemas.openxmlformats.org/drawingml/2006/main">
              <a:ext uri="{FF2B5EF4-FFF2-40B4-BE49-F238E27FC236}">
                <a16:creationId xmlns:a16="http://schemas.microsoft.com/office/drawing/2014/main" id="{3BDDF276-1FBA-45A4-9ADA-7D77B1DFA4B2}"/>
              </a:ext>
            </a:extLst>
          </p:cNvPr>
          <p:cNvSpPr>
            <a:spLocks xmlns:a="http://schemas.openxmlformats.org/drawingml/2006/main" noGrp="1"/>
          </p:cNvSpPr>
          <p:nvPr/>
        </p:nvSpPr>
        <p:spPr>
          <a:xfrm xmlns:a="http://schemas.openxmlformats.org/drawingml/2006/main">
            <a:off x="10953750" y="6238875"/>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26176"/>
                </a:solidFill>
                <a:latin typeface="Helvetica Neue"/>
                <a:ea typeface="Helvetica Neue"/>
                <a:cs typeface="Helvetica Neue"/>
              </a:defRPr>
            </a:pPr>
            <a:r>
              <a:rPr sz="1500" b="0">
                <a:solidFill>
                  <a:srgbClr val="526176"/>
                </a:solidFill>
                <a:latin typeface="Helvetica Neue"/>
                <a:ea typeface="Helvetica Neue"/>
                <a:cs typeface="Helvetica Neue"/>
              </a:rPr>
              <a:t>03</a:t>
            </a:r>
          </a:p>
        </p:txBody>
      </p:sp>
      <p:graphicFrame>
        <p:nvGraphicFramePr>
          <p:cNvPr id="6" name=""/>
          <p:cNvGraphicFramePr/>
          <p:nvPr/>
        </p:nvGraphicFramePr>
        <p:xfrm>
          <a:off xmlns:a="http://schemas.openxmlformats.org/drawingml/2006/main" x="723900" y="1809750"/>
          <a:ext xmlns:a="http://schemas.openxmlformats.org/drawingml/2006/main" cx="10744200" cy="3905250"/>
        </p:xfrm>
        <a:graphic xmlns:a="http://schemas.openxmlformats.org/drawingml/2006/main">
          <a:graphicData uri="http://schemas.openxmlformats.org/drawingml/2006/table">
            <a:tbl>
              <a:tblPr/>
              <a:tblGrid>
                <a:gridCol w="2952750"/>
                <a:gridCol w="3762375"/>
                <a:gridCol w="4029075"/>
              </a:tblGrid>
              <a:tr h="571500">
                <a:tc>
                  <a:txBody>
                    <a:bodyPr/>
                    <a:lstStyle/>
                    <a:p>
                      <a:r>
                        <a:rPr sz="1875" b="1">
                          <a:solidFill>
                            <a:srgbClr val="172B4D"/>
                          </a:solidFill>
                          <a:latin typeface="Helvetica Neue"/>
                          <a:ea typeface="Helvetica Neue"/>
                          <a:cs typeface="Helvetica Neue"/>
                        </a:rPr>
                        <a:t>Choice</a:t>
                      </a:r>
                    </a:p>
                  </a:txBody>
                  <a:tcPr marL="91440" marR="91440" marT="45720" marB="45720">
                    <a:solidFill>
                      <a:srgbClr val="EAF0F8"/>
                    </a:solidFill>
                  </a:tcPr>
                </a:tc>
                <a:tc>
                  <a:txBody>
                    <a:bodyPr/>
                    <a:lstStyle/>
                    <a:p>
                      <a:r>
                        <a:rPr sz="1875" b="1">
                          <a:solidFill>
                            <a:srgbClr val="526176"/>
                          </a:solidFill>
                          <a:latin typeface="Helvetica Neue"/>
                          <a:ea typeface="Helvetica Neue"/>
                          <a:cs typeface="Helvetica Neue"/>
                        </a:rPr>
                        <a:t>Why it fits</a:t>
                      </a:r>
                    </a:p>
                  </a:txBody>
                  <a:tcPr marL="91440" marR="91440" marT="45720" marB="45720">
                    <a:solidFill>
                      <a:srgbClr val="EAF0F8"/>
                    </a:solidFill>
                  </a:tcPr>
                </a:tc>
                <a:tc>
                  <a:txBody>
                    <a:bodyPr/>
                    <a:lstStyle/>
                    <a:p>
                      <a:r>
                        <a:rPr sz="1875" b="1">
                          <a:solidFill>
                            <a:srgbClr val="526176"/>
                          </a:solidFill>
                          <a:latin typeface="Helvetica Neue"/>
                          <a:ea typeface="Helvetica Neue"/>
                          <a:cs typeface="Helvetica Neue"/>
                        </a:rPr>
                        <a:t>Trade-off</a:t>
                      </a:r>
                    </a:p>
                  </a:txBody>
                  <a:tcPr marL="91440" marR="91440" marT="45720" marB="45720">
                    <a:solidFill>
                      <a:srgbClr val="EAF0F8"/>
                    </a:solidFill>
                  </a:tcPr>
                </a:tc>
              </a:tr>
              <a:tr h="833438">
                <a:tc>
                  <a:txBody>
                    <a:bodyPr/>
                    <a:lstStyle/>
                    <a:p>
                      <a:r>
                        <a:rPr sz="1950" b="1">
                          <a:solidFill>
                            <a:srgbClr val="172B4D"/>
                          </a:solidFill>
                          <a:latin typeface="Helvetica Neue"/>
                          <a:ea typeface="Helvetica Neue"/>
                          <a:cs typeface="Helvetica Neue"/>
                        </a:rPr>
                        <a:t>Streamlit + SQLite</a:t>
                      </a:r>
                    </a:p>
                  </a:txBody>
                  <a:tcPr marL="91440" marR="91440" marT="45720" marB="45720">
                    <a:solidFill>
                      <a:srgbClr val="FFFFFF"/>
                    </a:solidFill>
                  </a:tcPr>
                </a:tc>
                <a:tc>
                  <a:txBody>
                    <a:bodyPr/>
                    <a:lstStyle/>
                    <a:p>
                      <a:r>
                        <a:rPr sz="1950" b="0">
                          <a:solidFill>
                            <a:srgbClr val="526176"/>
                          </a:solidFill>
                          <a:latin typeface="Helvetica Neue"/>
                          <a:ea typeface="Helvetica Neue"/>
                          <a:cs typeface="Helvetica Neue"/>
                        </a:rPr>
                        <a:t>One app to run</a:t>
                      </a:r>
                    </a:p>
                  </a:txBody>
                  <a:tcPr marL="91440" marR="91440" marT="45720" marB="45720">
                    <a:solidFill>
                      <a:srgbClr val="FFFFFF"/>
                    </a:solidFill>
                  </a:tcPr>
                </a:tc>
                <a:tc>
                  <a:txBody>
                    <a:bodyPr/>
                    <a:lstStyle/>
                    <a:p>
                      <a:r>
                        <a:rPr sz="1950" b="0">
                          <a:solidFill>
                            <a:srgbClr val="526176"/>
                          </a:solidFill>
                          <a:latin typeface="Helvetica Neue"/>
                          <a:ea typeface="Helvetica Neue"/>
                          <a:cs typeface="Helvetica Neue"/>
                        </a:rPr>
                        <a:t>One process assumption</a:t>
                      </a:r>
                    </a:p>
                  </a:txBody>
                  <a:tcPr marL="91440" marR="91440" marT="45720" marB="45720">
                    <a:solidFill>
                      <a:srgbClr val="FFFFFF"/>
                    </a:solidFill>
                  </a:tcPr>
                </a:tc>
              </a:tr>
              <a:tr h="833438">
                <a:tc>
                  <a:txBody>
                    <a:bodyPr/>
                    <a:lstStyle/>
                    <a:p>
                      <a:r>
                        <a:rPr sz="1950" b="1">
                          <a:solidFill>
                            <a:srgbClr val="172B4D"/>
                          </a:solidFill>
                          <a:latin typeface="Helvetica Neue"/>
                          <a:ea typeface="Helvetica Neue"/>
                          <a:cs typeface="Helvetica Neue"/>
                        </a:rPr>
                        <a:t>YAML settings</a:t>
                      </a:r>
                    </a:p>
                  </a:txBody>
                  <a:tcPr marL="91440" marR="91440" marT="45720" marB="45720">
                    <a:solidFill>
                      <a:srgbClr val="FFFFFF"/>
                    </a:solidFill>
                  </a:tcPr>
                </a:tc>
                <a:tc>
                  <a:txBody>
                    <a:bodyPr/>
                    <a:lstStyle/>
                    <a:p>
                      <a:r>
                        <a:rPr sz="1950" b="0">
                          <a:solidFill>
                            <a:srgbClr val="526176"/>
                          </a:solidFill>
                          <a:latin typeface="Helvetica Neue"/>
                          <a:ea typeface="Helvetica Neue"/>
                          <a:cs typeface="Helvetica Neue"/>
                        </a:rPr>
                        <a:t>Easy to review and edit</a:t>
                      </a:r>
                    </a:p>
                  </a:txBody>
                  <a:tcPr marL="91440" marR="91440" marT="45720" marB="45720">
                    <a:solidFill>
                      <a:srgbClr val="FFFFFF"/>
                    </a:solidFill>
                  </a:tcPr>
                </a:tc>
                <a:tc>
                  <a:txBody>
                    <a:bodyPr/>
                    <a:lstStyle/>
                    <a:p>
                      <a:r>
                        <a:rPr sz="1950" b="0">
                          <a:solidFill>
                            <a:srgbClr val="526176"/>
                          </a:solidFill>
                          <a:latin typeface="Helvetica Neue"/>
                          <a:ea typeface="Helvetica Neue"/>
                          <a:cs typeface="Helvetica Neue"/>
                        </a:rPr>
                        <a:t>Restart after changes</a:t>
                      </a:r>
                    </a:p>
                  </a:txBody>
                  <a:tcPr marL="91440" marR="91440" marT="45720" marB="45720">
                    <a:solidFill>
                      <a:srgbClr val="FFFFFF"/>
                    </a:solidFill>
                  </a:tcPr>
                </a:tc>
              </a:tr>
              <a:tr h="833438">
                <a:tc>
                  <a:txBody>
                    <a:bodyPr/>
                    <a:lstStyle/>
                    <a:p>
                      <a:r>
                        <a:rPr sz="1950" b="1">
                          <a:solidFill>
                            <a:srgbClr val="172B4D"/>
                          </a:solidFill>
                          <a:latin typeface="Helvetica Neue"/>
                          <a:ea typeface="Helvetica Neue"/>
                          <a:cs typeface="Helvetica Neue"/>
                        </a:rPr>
                        <a:t>TF-IDF grouping</a:t>
                      </a:r>
                    </a:p>
                  </a:txBody>
                  <a:tcPr marL="91440" marR="91440" marT="45720" marB="45720">
                    <a:solidFill>
                      <a:srgbClr val="FFFFFF"/>
                    </a:solidFill>
                  </a:tcPr>
                </a:tc>
                <a:tc>
                  <a:txBody>
                    <a:bodyPr/>
                    <a:lstStyle/>
                    <a:p>
                      <a:r>
                        <a:rPr sz="1950" b="0">
                          <a:solidFill>
                            <a:srgbClr val="526176"/>
                          </a:solidFill>
                          <a:latin typeface="Helvetica Neue"/>
                          <a:ea typeface="Helvetica Neue"/>
                          <a:cs typeface="Helvetica Neue"/>
                        </a:rPr>
                        <a:t>Cheap and explainable</a:t>
                      </a:r>
                    </a:p>
                  </a:txBody>
                  <a:tcPr marL="91440" marR="91440" marT="45720" marB="45720">
                    <a:solidFill>
                      <a:srgbClr val="FFFFFF"/>
                    </a:solidFill>
                  </a:tcPr>
                </a:tc>
                <a:tc>
                  <a:txBody>
                    <a:bodyPr/>
                    <a:lstStyle/>
                    <a:p>
                      <a:r>
                        <a:rPr sz="1950" b="0">
                          <a:solidFill>
                            <a:srgbClr val="526176"/>
                          </a:solidFill>
                          <a:latin typeface="Helvetica Neue"/>
                          <a:ea typeface="Helvetica Neue"/>
                          <a:cs typeface="Helvetica Neue"/>
                        </a:rPr>
                        <a:t>Can miss paraphrases</a:t>
                      </a:r>
                    </a:p>
                  </a:txBody>
                  <a:tcPr marL="91440" marR="91440" marT="45720" marB="45720">
                    <a:solidFill>
                      <a:srgbClr val="FFFFFF"/>
                    </a:solidFill>
                  </a:tcPr>
                </a:tc>
              </a:tr>
              <a:tr h="833438">
                <a:tc>
                  <a:txBody>
                    <a:bodyPr/>
                    <a:lstStyle/>
                    <a:p>
                      <a:r>
                        <a:rPr sz="1950" b="1">
                          <a:solidFill>
                            <a:srgbClr val="172B4D"/>
                          </a:solidFill>
                          <a:latin typeface="Helvetica Neue"/>
                          <a:ea typeface="Helvetica Neue"/>
                          <a:cs typeface="Helvetica Neue"/>
                        </a:rPr>
                        <a:t>LLM + validation</a:t>
                      </a:r>
                    </a:p>
                  </a:txBody>
                  <a:tcPr marL="91440" marR="91440" marT="45720" marB="45720">
                    <a:solidFill>
                      <a:srgbClr val="FFFFFF"/>
                    </a:solidFill>
                  </a:tcPr>
                </a:tc>
                <a:tc>
                  <a:txBody>
                    <a:bodyPr/>
                    <a:lstStyle/>
                    <a:p>
                      <a:r>
                        <a:rPr sz="1950" b="0">
                          <a:solidFill>
                            <a:srgbClr val="526176"/>
                          </a:solidFill>
                          <a:latin typeface="Helvetica Neue"/>
                          <a:ea typeface="Helvetica Neue"/>
                          <a:cs typeface="Helvetica Neue"/>
                        </a:rPr>
                        <a:t>Summary and relevance together</a:t>
                      </a:r>
                    </a:p>
                  </a:txBody>
                  <a:tcPr marL="91440" marR="91440" marT="45720" marB="45720">
                    <a:solidFill>
                      <a:srgbClr val="FFFFFF"/>
                    </a:solidFill>
                  </a:tcPr>
                </a:tc>
                <a:tc>
                  <a:txBody>
                    <a:bodyPr/>
                    <a:lstStyle/>
                    <a:p>
                      <a:r>
                        <a:rPr sz="1950" b="0">
                          <a:solidFill>
                            <a:srgbClr val="526176"/>
                          </a:solidFill>
                          <a:latin typeface="Helvetica Neue"/>
                          <a:ea typeface="Helvetica Neue"/>
                          <a:cs typeface="Helvetica Neue"/>
                        </a:rPr>
                        <a:t>Quality needs evaluation</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155981195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8C5FB02B-242F-48AA-9CC0-67227ED9B961}"/>
              </a:ext>
            </a:extLst>
          </p:cNvPr>
          <p:cNvSpPr>
            <a:spLocks xmlns:a="http://schemas.openxmlformats.org/drawingml/2006/main" noGrp="1"/>
          </p:cNvSpPr>
          <p:nvPr/>
        </p:nvSpPr>
        <p:spPr>
          <a:xfrm xmlns:a="http://schemas.openxmlformats.org/drawingml/2006/main">
            <a:off x="723900" y="590550"/>
            <a:ext cx="107442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72B4D"/>
                </a:solidFill>
                <a:latin typeface="Helvetica Neue"/>
                <a:ea typeface="Helvetica Neue"/>
                <a:cs typeface="Helvetica Neue"/>
              </a:defRPr>
            </a:pPr>
            <a:r>
              <a:rPr sz="3450" b="1">
                <a:solidFill>
                  <a:srgbClr val="172B4D"/>
                </a:solidFill>
                <a:latin typeface="Helvetica Neue"/>
                <a:ea typeface="Helvetica Neue"/>
                <a:cs typeface="Helvetica Neue"/>
              </a:rPr>
              <a:t>When things go wrong</a:t>
            </a:r>
          </a:p>
        </p:txBody>
      </p:sp>
      <p:sp>
        <p:nvSpPr>
          <p:cNvPr id="2" name="">
            <a:extLst xmlns:a="http://schemas.openxmlformats.org/drawingml/2006/main">
              <a:ext uri="{FF2B5EF4-FFF2-40B4-BE49-F238E27FC236}">
                <a16:creationId xmlns:a16="http://schemas.microsoft.com/office/drawing/2014/main" id="{0AD4EF38-E532-4B9F-9B4C-CD903355729A}"/>
              </a:ext>
            </a:extLst>
          </p:cNvPr>
          <p:cNvSpPr>
            <a:spLocks xmlns:a="http://schemas.openxmlformats.org/drawingml/2006/main" noGrp="1"/>
          </p:cNvSpPr>
          <p:nvPr/>
        </p:nvSpPr>
        <p:spPr>
          <a:xfrm xmlns:a="http://schemas.openxmlformats.org/drawingml/2006/main">
            <a:off x="10953750" y="6238875"/>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26176"/>
                </a:solidFill>
                <a:latin typeface="Helvetica Neue"/>
                <a:ea typeface="Helvetica Neue"/>
                <a:cs typeface="Helvetica Neue"/>
              </a:defRPr>
            </a:pPr>
            <a:r>
              <a:rPr sz="1500" b="0">
                <a:solidFill>
                  <a:srgbClr val="526176"/>
                </a:solidFill>
                <a:latin typeface="Helvetica Neue"/>
                <a:ea typeface="Helvetica Neue"/>
                <a:cs typeface="Helvetica Neue"/>
              </a:rPr>
              <a:t>04</a:t>
            </a:r>
          </a:p>
        </p:txBody>
      </p:sp>
      <p:graphicFrame>
        <p:nvGraphicFramePr>
          <p:cNvPr id="6" name=""/>
          <p:cNvGraphicFramePr/>
          <p:nvPr/>
        </p:nvGraphicFramePr>
        <p:xfrm>
          <a:off xmlns:a="http://schemas.openxmlformats.org/drawingml/2006/main" x="723900" y="1809750"/>
          <a:ext xmlns:a="http://schemas.openxmlformats.org/drawingml/2006/main" cx="10744200" cy="3905250"/>
        </p:xfrm>
        <a:graphic xmlns:a="http://schemas.openxmlformats.org/drawingml/2006/main">
          <a:graphicData uri="http://schemas.openxmlformats.org/drawingml/2006/table">
            <a:tbl>
              <a:tblPr/>
              <a:tblGrid>
                <a:gridCol w="4191000"/>
                <a:gridCol w="6553200"/>
              </a:tblGrid>
              <a:tr h="571500">
                <a:tc>
                  <a:txBody>
                    <a:bodyPr/>
                    <a:lstStyle/>
                    <a:p>
                      <a:r>
                        <a:rPr sz="1875" b="1">
                          <a:solidFill>
                            <a:srgbClr val="172B4D"/>
                          </a:solidFill>
                          <a:latin typeface="Helvetica Neue"/>
                          <a:ea typeface="Helvetica Neue"/>
                          <a:cs typeface="Helvetica Neue"/>
                        </a:rPr>
                        <a:t>Situation</a:t>
                      </a:r>
                    </a:p>
                  </a:txBody>
                  <a:tcPr marL="91440" marR="91440" marT="45720" marB="45720">
                    <a:solidFill>
                      <a:srgbClr val="EAF0F8"/>
                    </a:solidFill>
                  </a:tcPr>
                </a:tc>
                <a:tc>
                  <a:txBody>
                    <a:bodyPr/>
                    <a:lstStyle/>
                    <a:p>
                      <a:r>
                        <a:rPr sz="1875" b="1">
                          <a:solidFill>
                            <a:srgbClr val="526176"/>
                          </a:solidFill>
                          <a:latin typeface="Helvetica Neue"/>
                          <a:ea typeface="Helvetica Neue"/>
                          <a:cs typeface="Helvetica Neue"/>
                        </a:rPr>
                        <a:t>What the user gets</a:t>
                      </a:r>
                    </a:p>
                  </a:txBody>
                  <a:tcPr marL="91440" marR="91440" marT="45720" marB="45720">
                    <a:solidFill>
                      <a:srgbClr val="EAF0F8"/>
                    </a:solidFill>
                  </a:tcPr>
                </a:tc>
              </a:tr>
              <a:tr h="666750">
                <a:tc>
                  <a:txBody>
                    <a:bodyPr/>
                    <a:lstStyle/>
                    <a:p>
                      <a:r>
                        <a:rPr sz="1950" b="1">
                          <a:solidFill>
                            <a:srgbClr val="172B4D"/>
                          </a:solidFill>
                          <a:latin typeface="Helvetica Neue"/>
                          <a:ea typeface="Helvetica Neue"/>
                          <a:cs typeface="Helvetica Neue"/>
                        </a:rPr>
                        <a:t>Article extraction fails</a:t>
                      </a:r>
                    </a:p>
                  </a:txBody>
                  <a:tcPr marL="91440" marR="91440" marT="45720" marB="45720">
                    <a:solidFill>
                      <a:srgbClr val="FFFFFF"/>
                    </a:solidFill>
                  </a:tcPr>
                </a:tc>
                <a:tc>
                  <a:txBody>
                    <a:bodyPr/>
                    <a:lstStyle/>
                    <a:p>
                      <a:r>
                        <a:rPr sz="1950" b="0">
                          <a:solidFill>
                            <a:srgbClr val="526176"/>
                          </a:solidFill>
                          <a:latin typeface="Helvetica Neue"/>
                          <a:ea typeface="Helvetica Neue"/>
                          <a:cs typeface="Helvetica Neue"/>
                        </a:rPr>
                        <a:t>Snippet coverage with a visible label</a:t>
                      </a:r>
                    </a:p>
                  </a:txBody>
                  <a:tcPr marL="91440" marR="91440" marT="45720" marB="45720">
                    <a:solidFill>
                      <a:srgbClr val="FFFFFF"/>
                    </a:solidFill>
                  </a:tcPr>
                </a:tc>
              </a:tr>
              <a:tr h="666750">
                <a:tc>
                  <a:txBody>
                    <a:bodyPr/>
                    <a:lstStyle/>
                    <a:p>
                      <a:r>
                        <a:rPr sz="1950" b="1">
                          <a:solidFill>
                            <a:srgbClr val="172B4D"/>
                          </a:solidFill>
                          <a:latin typeface="Helvetica Neue"/>
                          <a:ea typeface="Helvetica Neue"/>
                          <a:cs typeface="Helvetica Neue"/>
                        </a:rPr>
                        <a:t>A source fails</a:t>
                      </a:r>
                    </a:p>
                  </a:txBody>
                  <a:tcPr marL="91440" marR="91440" marT="45720" marB="45720">
                    <a:solidFill>
                      <a:srgbClr val="FFFFFF"/>
                    </a:solidFill>
                  </a:tcPr>
                </a:tc>
                <a:tc>
                  <a:txBody>
                    <a:bodyPr/>
                    <a:lstStyle/>
                    <a:p>
                      <a:r>
                        <a:rPr sz="1950" b="0">
                          <a:solidFill>
                            <a:srgbClr val="526176"/>
                          </a:solidFill>
                          <a:latin typeface="Helvetica Neue"/>
                          <a:ea typeface="Helvetica Neue"/>
                          <a:cs typeface="Helvetica Neue"/>
                        </a:rPr>
                        <a:t>Other coverage, or the previous snapshot</a:t>
                      </a:r>
                    </a:p>
                  </a:txBody>
                  <a:tcPr marL="91440" marR="91440" marT="45720" marB="45720">
                    <a:solidFill>
                      <a:srgbClr val="FFFFFF"/>
                    </a:solidFill>
                  </a:tcPr>
                </a:tc>
              </a:tr>
              <a:tr h="666750">
                <a:tc>
                  <a:txBody>
                    <a:bodyPr/>
                    <a:lstStyle/>
                    <a:p>
                      <a:r>
                        <a:rPr sz="1950" b="1">
                          <a:solidFill>
                            <a:srgbClr val="172B4D"/>
                          </a:solidFill>
                          <a:latin typeface="Helvetica Neue"/>
                          <a:ea typeface="Helvetica Neue"/>
                          <a:cs typeface="Helvetica Neue"/>
                        </a:rPr>
                        <a:t>AI fails or reaches its budget</a:t>
                      </a:r>
                    </a:p>
                  </a:txBody>
                  <a:tcPr marL="91440" marR="91440" marT="45720" marB="45720">
                    <a:solidFill>
                      <a:srgbClr val="FFFFFF"/>
                    </a:solidFill>
                  </a:tcPr>
                </a:tc>
                <a:tc>
                  <a:txBody>
                    <a:bodyPr/>
                    <a:lstStyle/>
                    <a:p>
                      <a:r>
                        <a:rPr sz="1950" b="0">
                          <a:solidFill>
                            <a:srgbClr val="526176"/>
                          </a:solidFill>
                          <a:latin typeface="Helvetica Neue"/>
                          <a:ea typeface="Helvetica Neue"/>
                          <a:cs typeface="Helvetica Neue"/>
                        </a:rPr>
                        <a:t>Headline and keyword fallback</a:t>
                      </a:r>
                    </a:p>
                  </a:txBody>
                  <a:tcPr marL="91440" marR="91440" marT="45720" marB="45720">
                    <a:solidFill>
                      <a:srgbClr val="FFFFFF"/>
                    </a:solidFill>
                  </a:tcPr>
                </a:tc>
              </a:tr>
              <a:tr h="666750">
                <a:tc>
                  <a:txBody>
                    <a:bodyPr/>
                    <a:lstStyle/>
                    <a:p>
                      <a:r>
                        <a:rPr sz="1950" b="1">
                          <a:solidFill>
                            <a:srgbClr val="172B4D"/>
                          </a:solidFill>
                          <a:latin typeface="Helvetica Neue"/>
                          <a:ea typeface="Helvetica Neue"/>
                          <a:cs typeface="Helvetica Neue"/>
                        </a:rPr>
                        <a:t>Repeated refresh clicks</a:t>
                      </a:r>
                    </a:p>
                  </a:txBody>
                  <a:tcPr marL="91440" marR="91440" marT="45720" marB="45720">
                    <a:solidFill>
                      <a:srgbClr val="FFFFFF"/>
                    </a:solidFill>
                  </a:tcPr>
                </a:tc>
                <a:tc>
                  <a:txBody>
                    <a:bodyPr/>
                    <a:lstStyle/>
                    <a:p>
                      <a:r>
                        <a:rPr sz="1950" b="0">
                          <a:solidFill>
                            <a:srgbClr val="526176"/>
                          </a:solidFill>
                          <a:latin typeface="Helvetica Neue"/>
                          <a:ea typeface="Helvetica Neue"/>
                          <a:cs typeface="Helvetica Neue"/>
                        </a:rPr>
                        <a:t>One refresh at a time in this process</a:t>
                      </a:r>
                    </a:p>
                  </a:txBody>
                  <a:tcPr marL="91440" marR="91440" marT="45720" marB="45720">
                    <a:solidFill>
                      <a:srgbClr val="FFFFFF"/>
                    </a:solidFill>
                  </a:tcPr>
                </a:tc>
              </a:tr>
              <a:tr h="666750">
                <a:tc>
                  <a:txBody>
                    <a:bodyPr/>
                    <a:lstStyle/>
                    <a:p>
                      <a:r>
                        <a:rPr sz="1950" b="1">
                          <a:solidFill>
                            <a:srgbClr val="172B4D"/>
                          </a:solidFill>
                          <a:latin typeface="Helvetica Neue"/>
                          <a:ea typeface="Helvetica Neue"/>
                          <a:cs typeface="Helvetica Neue"/>
                        </a:rPr>
                        <a:t>Missing date or changed settings</a:t>
                      </a:r>
                    </a:p>
                  </a:txBody>
                  <a:tcPr marL="91440" marR="91440" marT="45720" marB="45720">
                    <a:solidFill>
                      <a:srgbClr val="FFFFFF"/>
                    </a:solidFill>
                  </a:tcPr>
                </a:tc>
                <a:tc>
                  <a:txBody>
                    <a:bodyPr/>
                    <a:lstStyle/>
                    <a:p>
                      <a:r>
                        <a:rPr sz="1950" b="0">
                          <a:solidFill>
                            <a:srgbClr val="526176"/>
                          </a:solidFill>
                          <a:latin typeface="Helvetica Neue"/>
                          <a:ea typeface="Helvetica Neue"/>
                          <a:cs typeface="Helvetica Neue"/>
                        </a:rPr>
                        <a:t>Unknown date, or a clear refresh prompt</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472970851"/>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E32CF3E-DE3D-4B31-871C-8DA3D3215B78}"/>
              </a:ext>
            </a:extLst>
          </p:cNvPr>
          <p:cNvSpPr>
            <a:spLocks xmlns:a="http://schemas.openxmlformats.org/drawingml/2006/main" noGrp="1"/>
          </p:cNvSpPr>
          <p:nvPr/>
        </p:nvSpPr>
        <p:spPr>
          <a:xfrm xmlns:a="http://schemas.openxmlformats.org/drawingml/2006/main">
            <a:off x="723900" y="590550"/>
            <a:ext cx="107442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72B4D"/>
                </a:solidFill>
                <a:latin typeface="Helvetica Neue"/>
                <a:ea typeface="Helvetica Neue"/>
                <a:cs typeface="Helvetica Neue"/>
              </a:defRPr>
            </a:pPr>
            <a:r>
              <a:rPr sz="3450" b="1">
                <a:solidFill>
                  <a:srgbClr val="172B4D"/>
                </a:solidFill>
                <a:latin typeface="Helvetica Neue"/>
                <a:ea typeface="Helvetica Neue"/>
                <a:cs typeface="Helvetica Neue"/>
              </a:rPr>
              <a:t>What I verified</a:t>
            </a:r>
          </a:p>
        </p:txBody>
      </p:sp>
      <p:sp>
        <p:nvSpPr>
          <p:cNvPr id="2" name="">
            <a:extLst xmlns:a="http://schemas.openxmlformats.org/drawingml/2006/main">
              <a:ext uri="{FF2B5EF4-FFF2-40B4-BE49-F238E27FC236}">
                <a16:creationId xmlns:a16="http://schemas.microsoft.com/office/drawing/2014/main" id="{2F1360FB-E110-4FB8-ACAE-64822178B993}"/>
              </a:ext>
            </a:extLst>
          </p:cNvPr>
          <p:cNvSpPr>
            <a:spLocks xmlns:a="http://schemas.openxmlformats.org/drawingml/2006/main" noGrp="1"/>
          </p:cNvSpPr>
          <p:nvPr/>
        </p:nvSpPr>
        <p:spPr>
          <a:xfrm xmlns:a="http://schemas.openxmlformats.org/drawingml/2006/main">
            <a:off x="10953750" y="6238875"/>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26176"/>
                </a:solidFill>
                <a:latin typeface="Helvetica Neue"/>
                <a:ea typeface="Helvetica Neue"/>
                <a:cs typeface="Helvetica Neue"/>
              </a:defRPr>
            </a:pPr>
            <a:r>
              <a:rPr sz="1500" b="0">
                <a:solidFill>
                  <a:srgbClr val="526176"/>
                </a:solidFill>
                <a:latin typeface="Helvetica Neue"/>
                <a:ea typeface="Helvetica Neue"/>
                <a:cs typeface="Helvetica Neue"/>
              </a:rPr>
              <a:t>05</a:t>
            </a:r>
          </a:p>
        </p:txBody>
      </p:sp>
      <p:sp>
        <p:nvSpPr>
          <p:cNvPr id="3" name="">
            <a:extLst xmlns:a="http://schemas.openxmlformats.org/drawingml/2006/main">
              <a:ext uri="{FF2B5EF4-FFF2-40B4-BE49-F238E27FC236}">
                <a16:creationId xmlns:a16="http://schemas.microsoft.com/office/drawing/2014/main" id="{486DC2B6-0411-4E58-A033-539A7914905A}"/>
              </a:ext>
            </a:extLst>
          </p:cNvPr>
          <p:cNvSpPr>
            <a:spLocks xmlns:a="http://schemas.openxmlformats.org/drawingml/2006/main" noGrp="1"/>
          </p:cNvSpPr>
          <p:nvPr/>
        </p:nvSpPr>
        <p:spPr>
          <a:xfrm xmlns:a="http://schemas.openxmlformats.org/drawingml/2006/main">
            <a:off x="723900" y="1809750"/>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200" b="1">
                <a:solidFill>
                  <a:srgbClr val="2358A5"/>
                </a:solidFill>
                <a:latin typeface="Helvetica Neue"/>
                <a:ea typeface="Helvetica Neue"/>
                <a:cs typeface="Helvetica Neue"/>
              </a:defRPr>
            </a:pPr>
            <a:r>
              <a:rPr sz="4200" b="1">
                <a:solidFill>
                  <a:srgbClr val="2358A5"/>
                </a:solidFill>
                <a:latin typeface="Helvetica Neue"/>
                <a:ea typeface="Helvetica Neue"/>
                <a:cs typeface="Helvetica Neue"/>
              </a:rPr>
              <a:t>133 passing tests</a:t>
            </a:r>
          </a:p>
        </p:txBody>
      </p:sp>
      <p:sp>
        <p:nvSpPr>
          <p:cNvPr id="4" name="">
            <a:extLst xmlns:a="http://schemas.openxmlformats.org/drawingml/2006/main">
              <a:ext uri="{FF2B5EF4-FFF2-40B4-BE49-F238E27FC236}">
                <a16:creationId xmlns:a16="http://schemas.microsoft.com/office/drawing/2014/main" id="{24CFF2E7-BD86-49F5-94C2-FA32AF2E5047}"/>
              </a:ext>
            </a:extLst>
          </p:cNvPr>
          <p:cNvSpPr>
            <a:spLocks xmlns:a="http://schemas.openxmlformats.org/drawingml/2006/main" noGrp="1"/>
          </p:cNvSpPr>
          <p:nvPr/>
        </p:nvSpPr>
        <p:spPr>
          <a:xfrm xmlns:a="http://schemas.openxmlformats.org/drawingml/2006/main">
            <a:off x="723900" y="2809875"/>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526176"/>
                </a:solidFill>
                <a:latin typeface="Helvetica Neue"/>
                <a:ea typeface="Helvetica Neue"/>
                <a:cs typeface="Helvetica Neue"/>
              </a:defRPr>
            </a:pPr>
            <a:r>
              <a:rPr sz="2250" b="0">
                <a:solidFill>
                  <a:srgbClr val="526176"/>
                </a:solidFill>
                <a:latin typeface="Helvetica Neue"/>
                <a:ea typeface="Helvetica Neue"/>
                <a:cs typeface="Helvetica Neue"/>
              </a:rPr>
              <a:t>Local Python and the Linux container</a:t>
            </a:r>
          </a:p>
        </p:txBody>
      </p:sp>
      <p:sp>
        <p:nvSpPr>
          <p:cNvPr id="5" name="">
            <a:extLst xmlns:a="http://schemas.openxmlformats.org/drawingml/2006/main">
              <a:ext uri="{FF2B5EF4-FFF2-40B4-BE49-F238E27FC236}">
                <a16:creationId xmlns:a16="http://schemas.microsoft.com/office/drawing/2014/main" id="{9C3E7563-F324-4C2F-9BE0-642AABE8312B}"/>
              </a:ext>
            </a:extLst>
          </p:cNvPr>
          <p:cNvSpPr>
            <a:spLocks xmlns:a="http://schemas.openxmlformats.org/drawingml/2006/main" noGrp="1"/>
          </p:cNvSpPr>
          <p:nvPr/>
        </p:nvSpPr>
        <p:spPr>
          <a:xfrm xmlns:a="http://schemas.openxmlformats.org/drawingml/2006/main">
            <a:off x="723900" y="390525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172B4D"/>
                </a:solidFill>
                <a:latin typeface="Helvetica Neue"/>
                <a:ea typeface="Helvetica Neue"/>
                <a:cs typeface="Helvetica Neue"/>
              </a:defRPr>
            </a:pPr>
            <a:r>
              <a:rPr sz="2400" b="1">
                <a:solidFill>
                  <a:srgbClr val="172B4D"/>
                </a:solidFill>
                <a:latin typeface="Helvetica Neue"/>
                <a:ea typeface="Helvetica Neue"/>
                <a:cs typeface="Helvetica Neue"/>
              </a:rPr>
              <a:t>Real source and OpenRouter checks</a:t>
            </a:r>
          </a:p>
        </p:txBody>
      </p:sp>
      <p:sp>
        <p:nvSpPr>
          <p:cNvPr id="6" name="">
            <a:extLst xmlns:a="http://schemas.openxmlformats.org/drawingml/2006/main">
              <a:ext uri="{FF2B5EF4-FFF2-40B4-BE49-F238E27FC236}">
                <a16:creationId xmlns:a16="http://schemas.microsoft.com/office/drawing/2014/main" id="{D210601C-4288-4936-84E2-2C19F61439A8}"/>
              </a:ext>
            </a:extLst>
          </p:cNvPr>
          <p:cNvSpPr>
            <a:spLocks xmlns:a="http://schemas.openxmlformats.org/drawingml/2006/main" noGrp="1"/>
          </p:cNvSpPr>
          <p:nvPr/>
        </p:nvSpPr>
        <p:spPr>
          <a:xfrm xmlns:a="http://schemas.openxmlformats.org/drawingml/2006/main">
            <a:off x="723900" y="4714875"/>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526176"/>
                </a:solidFill>
                <a:latin typeface="Helvetica Neue"/>
                <a:ea typeface="Helvetica Neue"/>
                <a:cs typeface="Helvetica Neue"/>
              </a:defRPr>
            </a:pPr>
            <a:r>
              <a:rPr sz="2250" b="0">
                <a:solidFill>
                  <a:srgbClr val="526176"/>
                </a:solidFill>
                <a:latin typeface="Helvetica Neue"/>
                <a:ea typeface="Helvetica Neue"/>
                <a:cs typeface="Helvetica Neue"/>
              </a:rPr>
              <a:t>Docker health check and persistent SQLite volume</a:t>
            </a:r>
          </a:p>
        </p:txBody>
      </p:sp>
    </p:spTree>
    <p:extLst>
      <p:ext uri="{BB962C8B-B14F-4D97-AF65-F5344CB8AC3E}">
        <p14:creationId xmlns:p14="http://schemas.microsoft.com/office/powerpoint/2010/main" val="1469843245"/>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CB15AF7-8A37-485E-B370-7B77E9E0FACC}"/>
              </a:ext>
            </a:extLst>
          </p:cNvPr>
          <p:cNvSpPr>
            <a:spLocks xmlns:a="http://schemas.openxmlformats.org/drawingml/2006/main" noGrp="1"/>
          </p:cNvSpPr>
          <p:nvPr/>
        </p:nvSpPr>
        <p:spPr>
          <a:xfrm xmlns:a="http://schemas.openxmlformats.org/drawingml/2006/main">
            <a:off x="723900" y="590550"/>
            <a:ext cx="107442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72B4D"/>
                </a:solidFill>
                <a:latin typeface="Helvetica Neue"/>
                <a:ea typeface="Helvetica Neue"/>
                <a:cs typeface="Helvetica Neue"/>
              </a:defRPr>
            </a:pPr>
            <a:r>
              <a:rPr sz="3450" b="1">
                <a:solidFill>
                  <a:srgbClr val="172B4D"/>
                </a:solidFill>
                <a:latin typeface="Helvetica Neue"/>
                <a:ea typeface="Helvetica Neue"/>
                <a:cs typeface="Helvetica Neue"/>
              </a:rPr>
              <a:t>What I would improve next</a:t>
            </a:r>
          </a:p>
        </p:txBody>
      </p:sp>
      <p:sp>
        <p:nvSpPr>
          <p:cNvPr id="2" name="">
            <a:extLst xmlns:a="http://schemas.openxmlformats.org/drawingml/2006/main">
              <a:ext uri="{FF2B5EF4-FFF2-40B4-BE49-F238E27FC236}">
                <a16:creationId xmlns:a16="http://schemas.microsoft.com/office/drawing/2014/main" id="{C25D8E06-1B88-442E-87B5-9DF124E87FD8}"/>
              </a:ext>
            </a:extLst>
          </p:cNvPr>
          <p:cNvSpPr>
            <a:spLocks xmlns:a="http://schemas.openxmlformats.org/drawingml/2006/main" noGrp="1"/>
          </p:cNvSpPr>
          <p:nvPr/>
        </p:nvSpPr>
        <p:spPr>
          <a:xfrm xmlns:a="http://schemas.openxmlformats.org/drawingml/2006/main">
            <a:off x="10953750" y="6238875"/>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26176"/>
                </a:solidFill>
                <a:latin typeface="Helvetica Neue"/>
                <a:ea typeface="Helvetica Neue"/>
                <a:cs typeface="Helvetica Neue"/>
              </a:defRPr>
            </a:pPr>
            <a:r>
              <a:rPr sz="1500" b="0">
                <a:solidFill>
                  <a:srgbClr val="526176"/>
                </a:solidFill>
                <a:latin typeface="Helvetica Neue"/>
                <a:ea typeface="Helvetica Neue"/>
                <a:cs typeface="Helvetica Neue"/>
              </a:rPr>
              <a:t>06</a:t>
            </a:r>
          </a:p>
        </p:txBody>
      </p:sp>
      <p:sp>
        <p:nvSpPr>
          <p:cNvPr id="3" name="">
            <a:extLst xmlns:a="http://schemas.openxmlformats.org/drawingml/2006/main">
              <a:ext uri="{FF2B5EF4-FFF2-40B4-BE49-F238E27FC236}">
                <a16:creationId xmlns:a16="http://schemas.microsoft.com/office/drawing/2014/main" id="{821BC448-07D6-4496-86C8-7C8D045602AE}"/>
              </a:ext>
            </a:extLst>
          </p:cNvPr>
          <p:cNvSpPr>
            <a:spLocks xmlns:a="http://schemas.openxmlformats.org/drawingml/2006/main" noGrp="1"/>
          </p:cNvSpPr>
          <p:nvPr/>
        </p:nvSpPr>
        <p:spPr>
          <a:xfrm xmlns:a="http://schemas.openxmlformats.org/drawingml/2006/main">
            <a:off x="723900" y="1809750"/>
            <a:ext cx="3048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358A5"/>
                </a:solidFill>
                <a:latin typeface="Helvetica Neue"/>
                <a:ea typeface="Helvetica Neue"/>
                <a:cs typeface="Helvetica Neue"/>
              </a:defRPr>
            </a:pPr>
            <a:r>
              <a:rPr sz="2250" b="1">
                <a:solidFill>
                  <a:srgbClr val="2358A5"/>
                </a:solidFill>
                <a:latin typeface="Helvetica Neue"/>
                <a:ea typeface="Helvetica Neue"/>
                <a:cs typeface="Helvetica Neue"/>
              </a:rPr>
              <a:t>Quality first</a:t>
            </a:r>
          </a:p>
        </p:txBody>
      </p:sp>
      <p:sp>
        <p:nvSpPr>
          <p:cNvPr id="4" name="">
            <a:extLst xmlns:a="http://schemas.openxmlformats.org/drawingml/2006/main">
              <a:ext uri="{FF2B5EF4-FFF2-40B4-BE49-F238E27FC236}">
                <a16:creationId xmlns:a16="http://schemas.microsoft.com/office/drawing/2014/main" id="{9D7E9B24-4803-40C6-B6E2-F8244D505B52}"/>
              </a:ext>
            </a:extLst>
          </p:cNvPr>
          <p:cNvSpPr>
            <a:spLocks xmlns:a="http://schemas.openxmlformats.org/drawingml/2006/main" noGrp="1"/>
          </p:cNvSpPr>
          <p:nvPr/>
        </p:nvSpPr>
        <p:spPr>
          <a:xfrm xmlns:a="http://schemas.openxmlformats.org/drawingml/2006/main">
            <a:off x="4000500" y="1809750"/>
            <a:ext cx="7429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2B4D"/>
                </a:solidFill>
                <a:latin typeface="Helvetica Neue"/>
                <a:ea typeface="Helvetica Neue"/>
                <a:cs typeface="Helvetica Neue"/>
              </a:defRPr>
            </a:pPr>
            <a:r>
              <a:rPr sz="2175" b="0">
                <a:solidFill>
                  <a:srgbClr val="172B4D"/>
                </a:solidFill>
                <a:latin typeface="Helvetica Neue"/>
                <a:ea typeface="Helvetica Neue"/>
                <a:cs typeface="Helvetica Neue"/>
              </a:rPr>
              <a:t>Evaluate grouping, dates, relevance, and summaries</a:t>
            </a:r>
          </a:p>
        </p:txBody>
      </p:sp>
      <p:sp>
        <p:nvSpPr>
          <p:cNvPr id="5" name="">
            <a:extLst xmlns:a="http://schemas.openxmlformats.org/drawingml/2006/main">
              <a:ext uri="{FF2B5EF4-FFF2-40B4-BE49-F238E27FC236}">
                <a16:creationId xmlns:a16="http://schemas.microsoft.com/office/drawing/2014/main" id="{29F9B54A-30A9-4DA4-BDA6-8C886B28B8EE}"/>
              </a:ext>
            </a:extLst>
          </p:cNvPr>
          <p:cNvSpPr>
            <a:spLocks xmlns:a="http://schemas.openxmlformats.org/drawingml/2006/main" noGrp="1"/>
          </p:cNvSpPr>
          <p:nvPr/>
        </p:nvSpPr>
        <p:spPr>
          <a:xfrm xmlns:a="http://schemas.openxmlformats.org/drawingml/2006/main">
            <a:off x="723900" y="2771775"/>
            <a:ext cx="3048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358A5"/>
                </a:solidFill>
                <a:latin typeface="Helvetica Neue"/>
                <a:ea typeface="Helvetica Neue"/>
                <a:cs typeface="Helvetica Neue"/>
              </a:defRPr>
            </a:pPr>
            <a:r>
              <a:rPr sz="2250" b="1">
                <a:solidFill>
                  <a:srgbClr val="2358A5"/>
                </a:solidFill>
                <a:latin typeface="Helvetica Neue"/>
                <a:ea typeface="Helvetica Neue"/>
                <a:cs typeface="Helvetica Neue"/>
              </a:rPr>
              <a:t>Before public use</a:t>
            </a:r>
          </a:p>
        </p:txBody>
      </p:sp>
      <p:sp>
        <p:nvSpPr>
          <p:cNvPr id="6" name="">
            <a:extLst xmlns:a="http://schemas.openxmlformats.org/drawingml/2006/main">
              <a:ext uri="{FF2B5EF4-FFF2-40B4-BE49-F238E27FC236}">
                <a16:creationId xmlns:a16="http://schemas.microsoft.com/office/drawing/2014/main" id="{5D277661-D7E5-45F0-9391-FF5BFF04BA56}"/>
              </a:ext>
            </a:extLst>
          </p:cNvPr>
          <p:cNvSpPr>
            <a:spLocks xmlns:a="http://schemas.openxmlformats.org/drawingml/2006/main" noGrp="1"/>
          </p:cNvSpPr>
          <p:nvPr/>
        </p:nvSpPr>
        <p:spPr>
          <a:xfrm xmlns:a="http://schemas.openxmlformats.org/drawingml/2006/main">
            <a:off x="4000500" y="2771775"/>
            <a:ext cx="7429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2B4D"/>
                </a:solidFill>
                <a:latin typeface="Helvetica Neue"/>
                <a:ea typeface="Helvetica Neue"/>
                <a:cs typeface="Helvetica Neue"/>
              </a:defRPr>
            </a:pPr>
            <a:r>
              <a:rPr sz="2175" b="0">
                <a:solidFill>
                  <a:srgbClr val="172B4D"/>
                </a:solidFill>
                <a:latin typeface="Helvetica Neue"/>
                <a:ea typeface="Helvetica Neue"/>
                <a:cs typeface="Helvetica Neue"/>
              </a:rPr>
              <a:t>Authentication, usage limits, secrets, and backups</a:t>
            </a:r>
          </a:p>
        </p:txBody>
      </p:sp>
      <p:sp>
        <p:nvSpPr>
          <p:cNvPr id="7" name="">
            <a:extLst xmlns:a="http://schemas.openxmlformats.org/drawingml/2006/main">
              <a:ext uri="{FF2B5EF4-FFF2-40B4-BE49-F238E27FC236}">
                <a16:creationId xmlns:a16="http://schemas.microsoft.com/office/drawing/2014/main" id="{BE976E15-7F24-4E01-9E73-95D0E9F53A50}"/>
              </a:ext>
            </a:extLst>
          </p:cNvPr>
          <p:cNvSpPr>
            <a:spLocks xmlns:a="http://schemas.openxmlformats.org/drawingml/2006/main" noGrp="1"/>
          </p:cNvSpPr>
          <p:nvPr/>
        </p:nvSpPr>
        <p:spPr>
          <a:xfrm xmlns:a="http://schemas.openxmlformats.org/drawingml/2006/main">
            <a:off x="723900" y="3733800"/>
            <a:ext cx="3048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358A5"/>
                </a:solidFill>
                <a:latin typeface="Helvetica Neue"/>
                <a:ea typeface="Helvetica Neue"/>
                <a:cs typeface="Helvetica Neue"/>
              </a:defRPr>
            </a:pPr>
            <a:r>
              <a:rPr sz="2250" b="1">
                <a:solidFill>
                  <a:srgbClr val="2358A5"/>
                </a:solidFill>
                <a:latin typeface="Helvetica Neue"/>
                <a:ea typeface="Helvetica Neue"/>
                <a:cs typeface="Helvetica Neue"/>
              </a:rPr>
              <a:t>As usage grows</a:t>
            </a:r>
          </a:p>
        </p:txBody>
      </p:sp>
      <p:sp>
        <p:nvSpPr>
          <p:cNvPr id="8" name="">
            <a:extLst xmlns:a="http://schemas.openxmlformats.org/drawingml/2006/main">
              <a:ext uri="{FF2B5EF4-FFF2-40B4-BE49-F238E27FC236}">
                <a16:creationId xmlns:a16="http://schemas.microsoft.com/office/drawing/2014/main" id="{D2442135-215F-4220-A2FF-D61E24BA7C35}"/>
              </a:ext>
            </a:extLst>
          </p:cNvPr>
          <p:cNvSpPr>
            <a:spLocks xmlns:a="http://schemas.openxmlformats.org/drawingml/2006/main" noGrp="1"/>
          </p:cNvSpPr>
          <p:nvPr/>
        </p:nvSpPr>
        <p:spPr>
          <a:xfrm xmlns:a="http://schemas.openxmlformats.org/drawingml/2006/main">
            <a:off x="4000500" y="3733800"/>
            <a:ext cx="7429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2B4D"/>
                </a:solidFill>
                <a:latin typeface="Helvetica Neue"/>
                <a:ea typeface="Helvetica Neue"/>
                <a:cs typeface="Helvetica Neue"/>
              </a:defRPr>
            </a:pPr>
            <a:r>
              <a:rPr sz="2175" b="0">
                <a:solidFill>
                  <a:srgbClr val="172B4D"/>
                </a:solidFill>
                <a:latin typeface="Helvetica Neue"/>
                <a:ea typeface="Helvetica Neue"/>
                <a:cs typeface="Helvetica Neue"/>
              </a:rPr>
              <a:t>Background jobs, metrics, and shared coordination</a:t>
            </a:r>
          </a:p>
        </p:txBody>
      </p:sp>
      <p:sp>
        <p:nvSpPr>
          <p:cNvPr id="9" name="">
            <a:extLst xmlns:a="http://schemas.openxmlformats.org/drawingml/2006/main">
              <a:ext uri="{FF2B5EF4-FFF2-40B4-BE49-F238E27FC236}">
                <a16:creationId xmlns:a16="http://schemas.microsoft.com/office/drawing/2014/main" id="{A5129750-AB69-4EDA-843F-DE5F9F2B0A71}"/>
              </a:ext>
            </a:extLst>
          </p:cNvPr>
          <p:cNvSpPr>
            <a:spLocks xmlns:a="http://schemas.openxmlformats.org/drawingml/2006/main" noGrp="1"/>
          </p:cNvSpPr>
          <p:nvPr/>
        </p:nvSpPr>
        <p:spPr>
          <a:xfrm xmlns:a="http://schemas.openxmlformats.org/drawingml/2006/main">
            <a:off x="723900" y="4695825"/>
            <a:ext cx="3048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358A5"/>
                </a:solidFill>
                <a:latin typeface="Helvetica Neue"/>
                <a:ea typeface="Helvetica Neue"/>
                <a:cs typeface="Helvetica Neue"/>
              </a:defRPr>
            </a:pPr>
            <a:r>
              <a:rPr sz="2250" b="1">
                <a:solidFill>
                  <a:srgbClr val="2358A5"/>
                </a:solidFill>
                <a:latin typeface="Helvetica Neue"/>
                <a:ea typeface="Helvetica Neue"/>
                <a:cs typeface="Helvetica Neue"/>
              </a:rPr>
              <a:t>When users need it</a:t>
            </a:r>
          </a:p>
        </p:txBody>
      </p:sp>
      <p:sp>
        <p:nvSpPr>
          <p:cNvPr id="10" name="">
            <a:extLst xmlns:a="http://schemas.openxmlformats.org/drawingml/2006/main">
              <a:ext uri="{FF2B5EF4-FFF2-40B4-BE49-F238E27FC236}">
                <a16:creationId xmlns:a16="http://schemas.microsoft.com/office/drawing/2014/main" id="{A875A9A0-B495-41ED-976E-8483545A2C3A}"/>
              </a:ext>
            </a:extLst>
          </p:cNvPr>
          <p:cNvSpPr>
            <a:spLocks xmlns:a="http://schemas.openxmlformats.org/drawingml/2006/main" noGrp="1"/>
          </p:cNvSpPr>
          <p:nvPr/>
        </p:nvSpPr>
        <p:spPr>
          <a:xfrm xmlns:a="http://schemas.openxmlformats.org/drawingml/2006/main">
            <a:off x="4000500" y="4695825"/>
            <a:ext cx="7429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2B4D"/>
                </a:solidFill>
                <a:latin typeface="Helvetica Neue"/>
                <a:ea typeface="Helvetica Neue"/>
                <a:cs typeface="Helvetica Neue"/>
              </a:defRPr>
            </a:pPr>
            <a:r>
              <a:rPr sz="2175" b="0">
                <a:solidFill>
                  <a:srgbClr val="172B4D"/>
                </a:solidFill>
                <a:latin typeface="Helvetica Neue"/>
                <a:ea typeface="Helvetica Neue"/>
                <a:cs typeface="Helvetica Neue"/>
              </a:rPr>
              <a:t>Settings UI, story history, and richer interactions</a:t>
            </a:r>
          </a:p>
        </p:txBody>
      </p:sp>
    </p:spTree>
    <p:extLst>
      <p:ext uri="{BB962C8B-B14F-4D97-AF65-F5344CB8AC3E}">
        <p14:creationId xmlns:p14="http://schemas.microsoft.com/office/powerpoint/2010/main" val="86776369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2026-09-08T10:46:03.7690000Z</dcterms:created>
  <dcterms:modified xsi:type="dcterms:W3CDTF">2026-09-08T10:46:03.7690000Z</dcterms:modified>
</coreProperties>
</file>