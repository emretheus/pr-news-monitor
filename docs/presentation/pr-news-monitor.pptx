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836d6c86eaf46ec" Type="http://schemas.openxmlformats.org/officeDocument/2006/relationships/officeDocument" Target="ppt/presentation.xml"/><Relationship Id="Re5bdda28fad64527" Type="http://schemas.openxmlformats.org/officeDocument/2006/relationships/extended-properties" Target="docProps/app.xml"/><Relationship Id="Rf21288da4bed44e3"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56c1bfab92374ca7"/>
  </p:sldMasterIdLst>
  <p:notesMasterIdLst>
    <p:notesMasterId xmlns:r="http://schemas.openxmlformats.org/officeDocument/2006/relationships" r:id="R0f3b66025532434b"/>
  </p:notesMasterIdLst>
  <p:sldIdLst>
    <p:sldId xmlns:r="http://schemas.openxmlformats.org/officeDocument/2006/relationships" id="256" r:id="R7fdf07ae20ee422c"/>
    <p:sldId xmlns:ns0="http://schemas.openxmlformats.org/officeDocument/2006/relationships" id="262" ns0:id="rId12"/>
    <p:sldId xmlns:r="http://schemas.openxmlformats.org/officeDocument/2006/relationships" id="257" r:id="Rdceabca2300647d3"/>
    <p:sldId xmlns:ns0="http://schemas.openxmlformats.org/officeDocument/2006/relationships" id="263" ns0:id="rId13"/>
    <p:sldId xmlns:r="http://schemas.openxmlformats.org/officeDocument/2006/relationships" id="259" r:id="R77a2c634db264323"/>
    <p:sldId xmlns:r="http://schemas.openxmlformats.org/officeDocument/2006/relationships" id="260" r:id="R957d2fb81b844b85"/>
    <p:sldId xmlns:r="http://schemas.openxmlformats.org/officeDocument/2006/relationships" id="261" r:id="Rbd871e95533f44cc"/>
    <p:sldId xmlns:ns0="http://schemas.openxmlformats.org/officeDocument/2006/relationships" id="264" ns0:id="rId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f3b66025532434b" Type="http://schemas.openxmlformats.org/officeDocument/2006/relationships/notesMaster" Target="notesMasters/notesMaster1.xml"/><Relationship Id="R22578346e1254d97" Type="http://schemas.openxmlformats.org/officeDocument/2006/relationships/theme" Target="theme/theme1.xml"/><Relationship Id="R42d3961185c64946" Type="http://schemas.openxmlformats.org/officeDocument/2006/relationships/tableStyles" Target="tableStyles.xml"/><Relationship Id="R56c1bfab92374ca7" Type="http://schemas.openxmlformats.org/officeDocument/2006/relationships/slideMaster" Target="slideMasters/slideMaster1.xml"/><Relationship Id="R77a2c634db264323" Type="http://schemas.openxmlformats.org/officeDocument/2006/relationships/slide" Target="slides/slide4.xml"/><Relationship Id="R7fdf07ae20ee422c" Type="http://schemas.openxmlformats.org/officeDocument/2006/relationships/slide" Target="slides/slide1.xml"/><Relationship Id="R957d2fb81b844b85" Type="http://schemas.openxmlformats.org/officeDocument/2006/relationships/slide" Target="slides/slide5.xml"/><Relationship Id="Rbd871e95533f44cc" Type="http://schemas.openxmlformats.org/officeDocument/2006/relationships/slide" Target="slides/slide6.xml"/><Relationship Id="Rd50def4fcc7c47cd" Type="http://schemas.openxmlformats.org/officeDocument/2006/relationships/presProps" Target="presProps.xml"/><Relationship Id="Rdceabca2300647d3" Type="http://schemas.openxmlformats.org/officeDocument/2006/relationships/slide" Target="slides/slide2.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e9ff93607b6d4cd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27b2d9eaf03490f" Type="http://schemas.openxmlformats.org/officeDocument/2006/relationships/notesMaster" Target="../notesMasters/notesMaster1.xml"/><Relationship Id="Rf70be4f8ef6141f3"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b2b49997e8464f74" Type="http://schemas.openxmlformats.org/officeDocument/2006/relationships/slide" Target="../slides/slide2.xml"/><Relationship Id="Rbdea2c0cb97048a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4fd183666d6b4eef" Type="http://schemas.openxmlformats.org/officeDocument/2006/relationships/notesMaster" Target="../notesMasters/notesMaster1.xml"/><Relationship Id="R5ca22e97c6e64f4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7775fa37d94544de" Type="http://schemas.openxmlformats.org/officeDocument/2006/relationships/slide" Target="../slides/slide5.xml"/><Relationship Id="Rdf0c0dc9fecd4af0"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14f8ac5a80244441" Type="http://schemas.openxmlformats.org/officeDocument/2006/relationships/notesMaster" Target="../notesMasters/notesMaster1.xml"/><Relationship Id="Rb0e3fcf49b0a453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a:t>
            </a:r>
          </a:p>
          <a:p xmlns:a="http://schemas.openxmlformats.org/drawingml/2006/main"/>
          <a:p xmlns:a="http://schemas.openxmlformats.org/drawingml/2006/main">
            <a:r>
              <a:t>I built this for a PR team that needs to follow its company and competitors without reading the same story repeatedly. The demo tracks Equinix and Digital Realty, and the names are configurable in YAML. It shows grouped coverage with a short description and links to the original articles. I will show one story in the dashboard, then explain the main decisions and where I would improve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1:00-1:50</a:t>
            </a:r>
          </a:p>
          <a:p xmlns:a="http://schemas.openxmlformats.org/drawingml/2006/main"/>
          <a:p xmlns:a="http://schemas.openxmlformats.org/drawingml/2006/main">
            <a:r>
              <a:t>A refresh runs four stages: discover, extract, group plus analyze, publish. The separation is straightforward: app.py handles presentation, pipeline.py coordinates the work, and the other modules own individual responsibilities. Normal page interactions only read saved results and never call the APIs.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a:t>
            </a:r>
          </a:p>
          <a:p/>
          <a:p>
            <a:r>
              <a:t>This is the full implementation path: discovery from NewsData.io and Data Centre Magazine, full-text extraction, persistence, grouping, LLM analysis, and dashboard publication. The industry feed reuses the same saved articles and analysis flow, with no separate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2:40-3:30</a:t>
            </a:r>
          </a:p>
          <a:p xmlns:a="http://schemas.openxmlformats.org/drawingml/2006/main"/>
          <a:p xmlns:a="http://schemas.openxmlformats.org/drawingml/2006/main">
            <a:r>
              <a:t>I handled failures as part of the normal flow. Blocked extraction keeps the snippet with a visible label. One failed source still leaves the other. Total failure keeps the previous snapshot visible. A missing key, invalid output, or exhausted budget falls back to a headline and keyword match, trying a second model first when configured. A process-wide lock stops overlapping refreshes, and unknown dates stay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a:t>
            </a:r>
          </a:p>
          <a:p xmlns:a="http://schemas.openxmlformats.org/drawingml/2006/main"/>
          <a:p xmlns:a="http://schemas.openxmlformats.org/drawingml/2006/main">
            <a:r>
              <a:t>145 tests pass locally and inside the Linux container, covering persistence, malformed responses, grouping, two-model fallback, UI reruns, and concurrent refreshes. Live checks cover both sources and OpenRouter, Docker runs non-root with a named volume that survived recreation. These checks demonstrate behavior, not summary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a:t>
            </a:r>
          </a:p>
          <a:p xmlns:a="http://schemas.openxmlformats.org/drawingml/2006/main"/>
          <a:p xmlns:a="http://schemas.openxmlformats.org/drawingml/2006/main">
            <a:r>
              <a:t>First, build a labeled news sample and measure grouping, relevance, and summary quality before changing models. For production: authentication, managed secrets, API limits, tested backups, scheduled jobs with retries, and metrics for failures and cost. Multiple workers justify PostgreSQL and shared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1:50-2:40</a:t>
            </a:r>
          </a:p>
          <a:p/>
          <a:p>
            <a:r>
              <a:t>Each choice was cheap on purpose and has a defined prod exit. Streamlit becomes FastAPI plus a frontend when other clients need it. SQLite plus a process lock becomes PostgreSQL with queued jobs and shared coordination. TF-IDF gets an embeddings verifier only if a labeled sample proves misses. The mini model plus fallback gets re-picked from measured quality and cost. YAML becomes a settings UI for non-technical editors. One container gains auth, secrets, backups, and alerts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if asked</a:t>
            </a:r>
          </a:p>
          <a:p/>
          <a:p>
            <a:r>
              <a:t>Every number is a budget: 25 articles per source, 7-day window, 60-second source budgets. 2MB pages, 15 seconds per article, 50-word minimum. 200 articles grouped, 8 per story, 0.42 similarity. 4k characters per article, 20 calls in 90 seconds, 2 models, 80-word summaries.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d853d2618ddd469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7c0ff9214ce43f9" Type="http://schemas.openxmlformats.org/officeDocument/2006/relationships/theme" Target="theme/theme2.xml"/><Relationship Id="Rac5b990a075e46cc"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5b990a075e46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847f5631bcc84ed0" Type="http://schemas.openxmlformats.org/officeDocument/2006/relationships/notesSlide" Target="../notesSlides/notesSlide1.xml"/><Relationship Id="Rb960462cc5e8468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1e5c34c1f8274050" Type="http://schemas.openxmlformats.org/officeDocument/2006/relationships/slideLayout" Target="../slideLayouts/slideLayout1.xml"/><Relationship Id="R8510533e0c31469f"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2903343b9d134ad0" Type="http://schemas.openxmlformats.org/officeDocument/2006/relationships/slideLayout" Target="../slideLayouts/slideLayout1.xml"/><Relationship Id="Re2b25989cbce47b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b60c468a8b34110" Type="http://schemas.openxmlformats.org/officeDocument/2006/relationships/slideLayout" Target="../slideLayouts/slideLayout1.xml"/><Relationship Id="Rd2b8c8bae978436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8bcab4ba1b984d35" Type="http://schemas.openxmlformats.org/officeDocument/2006/relationships/notesSlide" Target="../notesSlides/notesSlide6.xml"/><Relationship Id="Rc97d02eeab8c492e"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CBD4A3-0410-4440-B374-C09EA53AD3DD}"/>
              </a:ext>
            </a:extLst>
          </p:cNvPr>
          <p:cNvSpPr>
            <a:spLocks xmlns:a="http://schemas.openxmlformats.org/drawingml/2006/main" noGrp="1"/>
          </p:cNvSpPr>
          <p:nvPr/>
        </p:nvSpPr>
        <p:spPr>
          <a:xfrm xmlns:a="http://schemas.openxmlformats.org/drawingml/2006/main">
            <a:off x="723900" y="59055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PR News Monitor</a:t>
            </a:r>
          </a:p>
        </p:txBody>
      </p:sp>
      <p:sp>
        <p:nvSpPr>
          <p:cNvPr id="2" name="">
            <a:extLst xmlns:a="http://schemas.openxmlformats.org/drawingml/2006/main">
              <a:ext uri="{FF2B5EF4-FFF2-40B4-BE49-F238E27FC236}">
                <a16:creationId xmlns:a16="http://schemas.microsoft.com/office/drawing/2014/main" id="{8C8412E2-B748-4C68-95CE-F5810F4963CC}"/>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416A4B6-DA77-49E4-85C5-8FB1A74D43C8}"/>
              </a:ext>
            </a:extLst>
          </p:cNvPr>
          <p:cNvSpPr>
            <a:spLocks xmlns:a="http://schemas.openxmlformats.org/drawingml/2006/main" noGrp="1"/>
          </p:cNvSpPr>
          <p:nvPr/>
        </p:nvSpPr>
        <p:spPr>
          <a:xfrm xmlns:a="http://schemas.openxmlformats.org/drawingml/2006/main">
            <a:off x="723900" y="21431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58A5"/>
                </a:solidFill>
                <a:latin typeface="Helvetica Neue"/>
                <a:ea typeface="Helvetica Neue"/>
                <a:cs typeface="Helvetica Neue"/>
              </a:defRPr>
            </a:pPr>
            <a:r>
              <a:rPr sz="3900" b="1">
                <a:solidFill>
                  <a:srgbClr val="2358A5"/>
                </a:solidFill>
                <a:latin typeface="Helvetica Neue"/>
                <a:ea typeface="Helvetica Neue"/>
                <a:cs typeface="Helvetica Neue"/>
              </a:rPr>
              <a:t>Company and competitor news</a:t>
            </a:r>
          </a:p>
          <a:p xmlns:a="http://schemas.openxmlformats.org/drawingml/2006/main">
            <a:pPr>
              <a:defRPr sz="3900" b="1">
                <a:solidFill>
                  <a:srgbClr val="2358A5"/>
                </a:solidFill>
                <a:latin typeface="Helvetica Neue"/>
                <a:ea typeface="Helvetica Neue"/>
                <a:cs typeface="Helvetica Neue"/>
              </a:defRPr>
            </a:pPr>
            <a:r>
              <a:rPr sz="3900" b="1">
                <a:solidFill>
                  <a:srgbClr val="2358A5"/>
                </a:solidFill>
                <a:latin typeface="Helvetica Neue"/>
                <a:ea typeface="Helvetica Neue"/>
                <a:cs typeface="Helvetica Neue"/>
              </a:rPr>
              <a:t>in one place</a:t>
            </a:r>
          </a:p>
        </p:txBody>
      </p:sp>
      <p:sp>
        <p:nvSpPr>
          <p:cNvPr id="4" name="">
            <a:extLst xmlns:a="http://schemas.openxmlformats.org/drawingml/2006/main">
              <a:ext uri="{FF2B5EF4-FFF2-40B4-BE49-F238E27FC236}">
                <a16:creationId xmlns:a16="http://schemas.microsoft.com/office/drawing/2014/main" id="{7F126DC3-0724-4B2E-B0A8-7F14F10DD279}"/>
              </a:ext>
            </a:extLst>
          </p:cNvPr>
          <p:cNvSpPr>
            <a:spLocks xmlns:a="http://schemas.openxmlformats.org/drawingml/2006/main" noGrp="1"/>
          </p:cNvSpPr>
          <p:nvPr/>
        </p:nvSpPr>
        <p:spPr>
          <a:xfrm xmlns:a="http://schemas.openxmlformats.org/drawingml/2006/main">
            <a:off x="723900" y="41910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176"/>
                </a:solidFill>
                <a:latin typeface="Helvetica Neue"/>
                <a:ea typeface="Helvetica Neue"/>
                <a:cs typeface="Helvetica Neue"/>
              </a:defRPr>
            </a:pPr>
            <a:r>
              <a:rPr sz="2250" b="0">
                <a:solidFill>
                  <a:srgbClr val="526176"/>
                </a:solidFill>
                <a:latin typeface="Helvetica Neue"/>
                <a:ea typeface="Helvetica Neue"/>
                <a:cs typeface="Helvetica Neue"/>
              </a:rPr>
              <a:t>Grouped stories with summaries and original coverage</a:t>
            </a:r>
          </a:p>
        </p:txBody>
      </p:sp>
    </p:spTree>
    <p:extLst>
      <p:ext uri="{BB962C8B-B14F-4D97-AF65-F5344CB8AC3E}">
        <p14:creationId xmlns:p14="http://schemas.microsoft.com/office/powerpoint/2010/main" val="3636731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C554AB8-5559-4AA4-BF75-B96A84B91961}"/>
              </a:ext>
            </a:extLst>
          </p:cNvPr>
          <p:cNvSpPr>
            <a:spLocks xmlns:a="http://schemas.openxmlformats.org/drawingml/2006/main" noGrp="1"/>
          </p:cNvSpPr>
          <p:nvPr/>
        </p:nvSpPr>
        <p:spPr>
          <a:xfrm xmlns:a="http://schemas.openxmlformats.org/drawingml/2006/main">
            <a:off x="723900" y="59055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How a refresh works</a:t>
            </a:r>
          </a:p>
        </p:txBody>
      </p:sp>
      <p:sp>
        <p:nvSpPr>
          <p:cNvPr id="2" name="">
            <a:extLst xmlns:a="http://schemas.openxmlformats.org/drawingml/2006/main">
              <a:ext uri="{FF2B5EF4-FFF2-40B4-BE49-F238E27FC236}">
                <a16:creationId xmlns:a16="http://schemas.microsoft.com/office/drawing/2014/main" id="{861F0F0A-91DE-4188-BE5F-9B6C761BD426}"/>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7B2BA98F-8791-47C0-9D5C-4C369DA7E264}"/>
              </a:ext>
            </a:extLst>
          </p:cNvPr>
          <p:cNvSpPr>
            <a:spLocks xmlns:a="http://schemas.openxmlformats.org/drawingml/2006/main" noGrp="1"/>
          </p:cNvSpPr>
          <p:nvPr/>
        </p:nvSpPr>
        <p:spPr>
          <a:xfrm xmlns:a="http://schemas.openxmlformats.org/drawingml/2006/main">
            <a:off x="723900" y="17621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358A5"/>
                </a:solidFill>
                <a:latin typeface="Helvetica Neue"/>
                <a:ea typeface="Helvetica Neue"/>
                <a:cs typeface="Helvetica Neue"/>
              </a:defRPr>
            </a:pPr>
            <a:r>
              <a:rPr sz="2550" b="1">
                <a:solidFill>
                  <a:srgbClr val="2358A5"/>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096C2EA4-AF77-4CED-8C41-898937536D8C}"/>
              </a:ext>
            </a:extLst>
          </p:cNvPr>
          <p:cNvSpPr>
            <a:spLocks xmlns:a="http://schemas.openxmlformats.org/drawingml/2006/main" noGrp="1"/>
          </p:cNvSpPr>
          <p:nvPr/>
        </p:nvSpPr>
        <p:spPr>
          <a:xfrm xmlns:a="http://schemas.openxmlformats.org/drawingml/2006/main">
            <a:off x="1409700" y="176212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2B4D"/>
                </a:solidFill>
                <a:latin typeface="Helvetica Neue"/>
                <a:ea typeface="Helvetica Neue"/>
                <a:cs typeface="Helvetica Neue"/>
              </a:defRPr>
            </a:pPr>
            <a:r>
              <a:rPr sz="2325" b="1">
                <a:solidFill>
                  <a:srgbClr val="172B4D"/>
                </a:solidFill>
                <a:latin typeface="Helvetica Neue"/>
                <a:ea typeface="Helvetica Neue"/>
                <a:cs typeface="Helvetica Neue"/>
              </a:rPr>
              <a:t>Discover</a:t>
            </a:r>
          </a:p>
        </p:txBody>
      </p:sp>
      <p:sp>
        <p:nvSpPr>
          <p:cNvPr id="5" name="">
            <a:extLst xmlns:a="http://schemas.openxmlformats.org/drawingml/2006/main">
              <a:ext uri="{FF2B5EF4-FFF2-40B4-BE49-F238E27FC236}">
                <a16:creationId xmlns:a16="http://schemas.microsoft.com/office/drawing/2014/main" id="{C7AC2903-56CA-4965-84F3-03B707F9743E}"/>
              </a:ext>
            </a:extLst>
          </p:cNvPr>
          <p:cNvSpPr>
            <a:spLocks xmlns:a="http://schemas.openxmlformats.org/drawingml/2006/main" noGrp="1"/>
          </p:cNvSpPr>
          <p:nvPr/>
        </p:nvSpPr>
        <p:spPr>
          <a:xfrm xmlns:a="http://schemas.openxmlformats.org/drawingml/2006/main">
            <a:off x="4619625" y="1790700"/>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176"/>
                </a:solidFill>
                <a:latin typeface="Helvetica Neue"/>
                <a:ea typeface="Helvetica Neue"/>
                <a:cs typeface="Helvetica Neue"/>
              </a:defRPr>
            </a:pPr>
            <a:r>
              <a:rPr sz="2100" b="0">
                <a:solidFill>
                  <a:srgbClr val="526176"/>
                </a:solidFill>
                <a:latin typeface="Helvetica Neue"/>
                <a:ea typeface="Helvetica Neue"/>
                <a:cs typeface="Helvetica Neue"/>
              </a:rPr>
              <a:t>NewsData.io and Data Centre Magazine</a:t>
            </a:r>
          </a:p>
        </p:txBody>
      </p:sp>
      <p:sp>
        <p:nvSpPr>
          <p:cNvPr id="6" name="">
            <a:extLst xmlns:a="http://schemas.openxmlformats.org/drawingml/2006/main">
              <a:ext uri="{FF2B5EF4-FFF2-40B4-BE49-F238E27FC236}">
                <a16:creationId xmlns:a16="http://schemas.microsoft.com/office/drawing/2014/main" id="{4D81611D-E8BA-4697-AB55-E10C40E8BE70}"/>
              </a:ext>
            </a:extLst>
          </p:cNvPr>
          <p:cNvSpPr>
            <a:spLocks xmlns:a="http://schemas.openxmlformats.org/drawingml/2006/main" noGrp="1"/>
          </p:cNvSpPr>
          <p:nvPr/>
        </p:nvSpPr>
        <p:spPr>
          <a:xfrm xmlns:a="http://schemas.openxmlformats.org/drawingml/2006/main">
            <a:off x="723900" y="27241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358A5"/>
                </a:solidFill>
                <a:latin typeface="Helvetica Neue"/>
                <a:ea typeface="Helvetica Neue"/>
                <a:cs typeface="Helvetica Neue"/>
              </a:defRPr>
            </a:pPr>
            <a:r>
              <a:rPr sz="2550" b="1">
                <a:solidFill>
                  <a:srgbClr val="2358A5"/>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9A11CF5D-8CEF-46C2-AAA9-C2AA299E2D47}"/>
              </a:ext>
            </a:extLst>
          </p:cNvPr>
          <p:cNvSpPr>
            <a:spLocks xmlns:a="http://schemas.openxmlformats.org/drawingml/2006/main" noGrp="1"/>
          </p:cNvSpPr>
          <p:nvPr/>
        </p:nvSpPr>
        <p:spPr>
          <a:xfrm xmlns:a="http://schemas.openxmlformats.org/drawingml/2006/main">
            <a:off x="1409700" y="27241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2B4D"/>
                </a:solidFill>
                <a:latin typeface="Helvetica Neue"/>
                <a:ea typeface="Helvetica Neue"/>
                <a:cs typeface="Helvetica Neue"/>
              </a:defRPr>
            </a:pPr>
            <a:r>
              <a:rPr sz="2325" b="1">
                <a:solidFill>
                  <a:srgbClr val="172B4D"/>
                </a:solidFill>
                <a:latin typeface="Helvetica Neue"/>
                <a:ea typeface="Helvetica Neue"/>
                <a:cs typeface="Helvetica Neue"/>
              </a:rPr>
              <a:t>Extract and save</a:t>
            </a:r>
          </a:p>
        </p:txBody>
      </p:sp>
      <p:sp>
        <p:nvSpPr>
          <p:cNvPr id="8" name="">
            <a:extLst xmlns:a="http://schemas.openxmlformats.org/drawingml/2006/main">
              <a:ext uri="{FF2B5EF4-FFF2-40B4-BE49-F238E27FC236}">
                <a16:creationId xmlns:a16="http://schemas.microsoft.com/office/drawing/2014/main" id="{D210D01A-BE74-46F4-8280-3CB48544E800}"/>
              </a:ext>
            </a:extLst>
          </p:cNvPr>
          <p:cNvSpPr>
            <a:spLocks xmlns:a="http://schemas.openxmlformats.org/drawingml/2006/main" noGrp="1"/>
          </p:cNvSpPr>
          <p:nvPr/>
        </p:nvSpPr>
        <p:spPr>
          <a:xfrm xmlns:a="http://schemas.openxmlformats.org/drawingml/2006/main">
            <a:off x="4619625" y="2752725"/>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176"/>
                </a:solidFill>
                <a:latin typeface="Helvetica Neue"/>
                <a:ea typeface="Helvetica Neue"/>
                <a:cs typeface="Helvetica Neue"/>
              </a:defRPr>
            </a:pPr>
            <a:r>
              <a:rPr sz="2100" b="0">
                <a:solidFill>
                  <a:srgbClr val="526176"/>
                </a:solidFill>
                <a:latin typeface="Helvetica Neue"/>
                <a:ea typeface="Helvetica Neue"/>
                <a:cs typeface="Helvetica Neue"/>
              </a:rPr>
              <a:t>Full text when available, snippets when it fails</a:t>
            </a:r>
          </a:p>
        </p:txBody>
      </p:sp>
      <p:sp>
        <p:nvSpPr>
          <p:cNvPr id="9" name="">
            <a:extLst xmlns:a="http://schemas.openxmlformats.org/drawingml/2006/main">
              <a:ext uri="{FF2B5EF4-FFF2-40B4-BE49-F238E27FC236}">
                <a16:creationId xmlns:a16="http://schemas.microsoft.com/office/drawing/2014/main" id="{1C697B68-3FEE-4DEA-A9B9-56A5CFA3EC0B}"/>
              </a:ext>
            </a:extLst>
          </p:cNvPr>
          <p:cNvSpPr>
            <a:spLocks xmlns:a="http://schemas.openxmlformats.org/drawingml/2006/main" noGrp="1"/>
          </p:cNvSpPr>
          <p:nvPr/>
        </p:nvSpPr>
        <p:spPr>
          <a:xfrm xmlns:a="http://schemas.openxmlformats.org/drawingml/2006/main">
            <a:off x="723900" y="36861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358A5"/>
                </a:solidFill>
                <a:latin typeface="Helvetica Neue"/>
                <a:ea typeface="Helvetica Neue"/>
                <a:cs typeface="Helvetica Neue"/>
              </a:defRPr>
            </a:pPr>
            <a:r>
              <a:rPr sz="2550" b="1">
                <a:solidFill>
                  <a:srgbClr val="2358A5"/>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E4970850-C978-410B-AD50-E76E87762917}"/>
              </a:ext>
            </a:extLst>
          </p:cNvPr>
          <p:cNvSpPr>
            <a:spLocks xmlns:a="http://schemas.openxmlformats.org/drawingml/2006/main" noGrp="1"/>
          </p:cNvSpPr>
          <p:nvPr/>
        </p:nvSpPr>
        <p:spPr>
          <a:xfrm xmlns:a="http://schemas.openxmlformats.org/drawingml/2006/main">
            <a:off x="1409700" y="36861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2B4D"/>
                </a:solidFill>
                <a:latin typeface="Helvetica Neue"/>
                <a:ea typeface="Helvetica Neue"/>
                <a:cs typeface="Helvetica Neue"/>
              </a:defRPr>
            </a:pPr>
            <a:r>
              <a:rPr sz="2325" b="1">
                <a:solidFill>
                  <a:srgbClr val="172B4D"/>
                </a:solidFill>
                <a:latin typeface="Helvetica Neue"/>
                <a:ea typeface="Helvetica Neue"/>
                <a:cs typeface="Helvetica Neue"/>
              </a:rPr>
              <a:t>Group and analyze</a:t>
            </a:r>
          </a:p>
        </p:txBody>
      </p:sp>
      <p:sp>
        <p:nvSpPr>
          <p:cNvPr id="11" name="">
            <a:extLst xmlns:a="http://schemas.openxmlformats.org/drawingml/2006/main">
              <a:ext uri="{FF2B5EF4-FFF2-40B4-BE49-F238E27FC236}">
                <a16:creationId xmlns:a16="http://schemas.microsoft.com/office/drawing/2014/main" id="{F626AFA9-B00C-4B69-B3AD-8DAC8C9D50BC}"/>
              </a:ext>
            </a:extLst>
          </p:cNvPr>
          <p:cNvSpPr>
            <a:spLocks xmlns:a="http://schemas.openxmlformats.org/drawingml/2006/main" noGrp="1"/>
          </p:cNvSpPr>
          <p:nvPr/>
        </p:nvSpPr>
        <p:spPr>
          <a:xfrm xmlns:a="http://schemas.openxmlformats.org/drawingml/2006/main">
            <a:off x="4619625" y="3714750"/>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176"/>
                </a:solidFill>
                <a:latin typeface="Helvetica Neue"/>
                <a:ea typeface="Helvetica Neue"/>
                <a:cs typeface="Helvetica Neue"/>
              </a:defRPr>
            </a:pPr>
            <a:r>
              <a:rPr sz="2100" b="0">
                <a:solidFill>
                  <a:srgbClr val="526176"/>
                </a:solidFill>
                <a:latin typeface="Helvetica Neue"/>
                <a:ea typeface="Helvetica Neue"/>
                <a:cs typeface="Helvetica Neue"/>
              </a:rPr>
              <a:t>Text similarity, then LLM summary and relevance</a:t>
            </a:r>
          </a:p>
        </p:txBody>
      </p:sp>
      <p:sp>
        <p:nvSpPr>
          <p:cNvPr id="12" name="">
            <a:extLst xmlns:a="http://schemas.openxmlformats.org/drawingml/2006/main">
              <a:ext uri="{FF2B5EF4-FFF2-40B4-BE49-F238E27FC236}">
                <a16:creationId xmlns:a16="http://schemas.microsoft.com/office/drawing/2014/main" id="{CFED2D40-2779-4323-BA29-1B62CD137ADC}"/>
              </a:ext>
            </a:extLst>
          </p:cNvPr>
          <p:cNvSpPr>
            <a:spLocks xmlns:a="http://schemas.openxmlformats.org/drawingml/2006/main" noGrp="1"/>
          </p:cNvSpPr>
          <p:nvPr/>
        </p:nvSpPr>
        <p:spPr>
          <a:xfrm xmlns:a="http://schemas.openxmlformats.org/drawingml/2006/main">
            <a:off x="723900" y="46482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358A5"/>
                </a:solidFill>
                <a:latin typeface="Helvetica Neue"/>
                <a:ea typeface="Helvetica Neue"/>
                <a:cs typeface="Helvetica Neue"/>
              </a:defRPr>
            </a:pPr>
            <a:r>
              <a:rPr sz="2550" b="1">
                <a:solidFill>
                  <a:srgbClr val="2358A5"/>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3B4DD8B4-B0D3-48D4-AD53-CD0D64591C39}"/>
              </a:ext>
            </a:extLst>
          </p:cNvPr>
          <p:cNvSpPr>
            <a:spLocks xmlns:a="http://schemas.openxmlformats.org/drawingml/2006/main" noGrp="1"/>
          </p:cNvSpPr>
          <p:nvPr/>
        </p:nvSpPr>
        <p:spPr>
          <a:xfrm xmlns:a="http://schemas.openxmlformats.org/drawingml/2006/main">
            <a:off x="1409700" y="46482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2B4D"/>
                </a:solidFill>
                <a:latin typeface="Helvetica Neue"/>
                <a:ea typeface="Helvetica Neue"/>
                <a:cs typeface="Helvetica Neue"/>
              </a:defRPr>
            </a:pPr>
            <a:r>
              <a:rPr sz="2325" b="1">
                <a:solidFill>
                  <a:srgbClr val="172B4D"/>
                </a:solidFill>
                <a:latin typeface="Helvetica Neue"/>
                <a:ea typeface="Helvetica Neue"/>
                <a:cs typeface="Helvetica Neue"/>
              </a:rPr>
              <a:t>Publish</a:t>
            </a:r>
          </a:p>
        </p:txBody>
      </p:sp>
      <p:sp>
        <p:nvSpPr>
          <p:cNvPr id="14" name="">
            <a:extLst xmlns:a="http://schemas.openxmlformats.org/drawingml/2006/main">
              <a:ext uri="{FF2B5EF4-FFF2-40B4-BE49-F238E27FC236}">
                <a16:creationId xmlns:a16="http://schemas.microsoft.com/office/drawing/2014/main" id="{581B161A-C14C-4E43-B1B8-82DE3191B7E4}"/>
              </a:ext>
            </a:extLst>
          </p:cNvPr>
          <p:cNvSpPr>
            <a:spLocks xmlns:a="http://schemas.openxmlformats.org/drawingml/2006/main" noGrp="1"/>
          </p:cNvSpPr>
          <p:nvPr/>
        </p:nvSpPr>
        <p:spPr>
          <a:xfrm xmlns:a="http://schemas.openxmlformats.org/drawingml/2006/main">
            <a:off x="4619625" y="4676775"/>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176"/>
                </a:solidFill>
                <a:latin typeface="Helvetica Neue"/>
                <a:ea typeface="Helvetica Neue"/>
                <a:cs typeface="Helvetica Neue"/>
              </a:defRPr>
            </a:pPr>
            <a:r>
              <a:rPr sz="2100" b="0">
                <a:solidFill>
                  <a:srgbClr val="526176"/>
                </a:solidFill>
                <a:latin typeface="Helvetica Neue"/>
                <a:ea typeface="Helvetica Neue"/>
                <a:cs typeface="Helvetica Neue"/>
              </a:rPr>
              <a:t>Save the completed snapshot and show both feeds</a:t>
            </a:r>
          </a:p>
        </p:txBody>
      </p:sp>
    </p:spTree>
    <p:extLst>
      <p:ext uri="{BB962C8B-B14F-4D97-AF65-F5344CB8AC3E}">
        <p14:creationId xmlns:p14="http://schemas.microsoft.com/office/powerpoint/2010/main" val="1925972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5FB02B-242F-48AA-9CC0-67227ED9B961}"/>
              </a:ext>
            </a:extLst>
          </p:cNvPr>
          <p:cNvSpPr>
            <a:spLocks xmlns:a="http://schemas.openxmlformats.org/drawingml/2006/main" noGrp="1"/>
          </p:cNvSpPr>
          <p:nvPr/>
        </p:nvSpPr>
        <p:spPr>
          <a:xfrm xmlns:a="http://schemas.openxmlformats.org/drawingml/2006/main">
            <a:off x="723900" y="59055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When things go wrong</a:t>
            </a:r>
          </a:p>
        </p:txBody>
      </p:sp>
      <p:sp>
        <p:nvSpPr>
          <p:cNvPr id="2" name="">
            <a:extLst xmlns:a="http://schemas.openxmlformats.org/drawingml/2006/main">
              <a:ext uri="{FF2B5EF4-FFF2-40B4-BE49-F238E27FC236}">
                <a16:creationId xmlns:a16="http://schemas.microsoft.com/office/drawing/2014/main" id="{0AD4EF38-E532-4B9F-9B4C-CD903355729A}"/>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05</a:t>
            </a:r>
          </a:p>
        </p:txBody>
      </p:sp>
      <p:graphicFrame>
        <p:nvGraphicFramePr>
          <p:cNvPr id="6" name=""/>
          <p:cNvGraphicFramePr/>
          <p:nvPr/>
        </p:nvGraphicFramePr>
        <p:xfrm>
          <a:off xmlns:a="http://schemas.openxmlformats.org/drawingml/2006/main" x="723900" y="1809750"/>
          <a:ext xmlns:a="http://schemas.openxmlformats.org/drawingml/2006/main" cx="10744200" cy="3905250"/>
        </p:xfrm>
        <a:graphic xmlns:a="http://schemas.openxmlformats.org/drawingml/2006/main">
          <a:graphicData uri="http://schemas.openxmlformats.org/drawingml/2006/table">
            <a:tbl>
              <a:tblPr/>
              <a:tblGrid>
                <a:gridCol w="4191000"/>
                <a:gridCol w="6553200"/>
              </a:tblGrid>
              <a:tr h="571500">
                <a:tc>
                  <a:txBody>
                    <a:bodyPr/>
                    <a:lstStyle/>
                    <a:p>
                      <a:r>
                        <a:rPr sz="1875" b="1">
                          <a:solidFill>
                            <a:srgbClr val="172B4D"/>
                          </a:solidFill>
                          <a:latin typeface="Helvetica Neue"/>
                          <a:ea typeface="Helvetica Neue"/>
                          <a:cs typeface="Helvetica Neue"/>
                        </a:rPr>
                        <a:t>Situation</a:t>
                      </a:r>
                    </a:p>
                  </a:txBody>
                  <a:tcPr marL="91440" marR="91440" marT="45720" marB="45720">
                    <a:solidFill>
                      <a:srgbClr val="EAF0F8"/>
                    </a:solidFill>
                  </a:tcPr>
                </a:tc>
                <a:tc>
                  <a:txBody>
                    <a:bodyPr/>
                    <a:lstStyle/>
                    <a:p>
                      <a:r>
                        <a:rPr sz="1875" b="1">
                          <a:solidFill>
                            <a:srgbClr val="526176"/>
                          </a:solidFill>
                          <a:latin typeface="Helvetica Neue"/>
                          <a:ea typeface="Helvetica Neue"/>
                          <a:cs typeface="Helvetica Neue"/>
                        </a:rPr>
                        <a:t>What the user gets</a:t>
                      </a:r>
                    </a:p>
                  </a:txBody>
                  <a:tcPr marL="91440" marR="91440" marT="45720" marB="45720">
                    <a:solidFill>
                      <a:srgbClr val="EAF0F8"/>
                    </a:solidFill>
                  </a:tcPr>
                </a:tc>
              </a:tr>
              <a:tr h="666750">
                <a:tc>
                  <a:txBody>
                    <a:bodyPr/>
                    <a:lstStyle/>
                    <a:p>
                      <a:r>
                        <a:rPr sz="1950" b="1">
                          <a:solidFill>
                            <a:srgbClr val="172B4D"/>
                          </a:solidFill>
                          <a:latin typeface="Helvetica Neue"/>
                          <a:ea typeface="Helvetica Neue"/>
                          <a:cs typeface="Helvetica Neue"/>
                        </a:rPr>
                        <a:t>Article extraction fails</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Snippet coverage with a visible label</a:t>
                      </a:r>
                    </a:p>
                  </a:txBody>
                  <a:tcPr marL="91440" marR="91440" marT="45720" marB="45720">
                    <a:solidFill>
                      <a:srgbClr val="FFFFFF"/>
                    </a:solidFill>
                  </a:tcPr>
                </a:tc>
              </a:tr>
              <a:tr h="666750">
                <a:tc>
                  <a:txBody>
                    <a:bodyPr/>
                    <a:lstStyle/>
                    <a:p>
                      <a:r>
                        <a:rPr sz="1950" b="1">
                          <a:solidFill>
                            <a:srgbClr val="172B4D"/>
                          </a:solidFill>
                          <a:latin typeface="Helvetica Neue"/>
                          <a:ea typeface="Helvetica Neue"/>
                          <a:cs typeface="Helvetica Neue"/>
                        </a:rPr>
                        <a:t>A source fails</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Other coverage, or the previous snapshot</a:t>
                      </a:r>
                    </a:p>
                  </a:txBody>
                  <a:tcPr marL="91440" marR="91440" marT="45720" marB="45720">
                    <a:solidFill>
                      <a:srgbClr val="FFFFFF"/>
                    </a:solidFill>
                  </a:tcPr>
                </a:tc>
              </a:tr>
              <a:tr h="666750">
                <a:tc>
                  <a:txBody>
                    <a:bodyPr/>
                    <a:lstStyle/>
                    <a:p>
                      <a:r>
                        <a:rPr sz="1950" b="1">
                          <a:solidFill>
                            <a:srgbClr val="172B4D"/>
                          </a:solidFill>
                          <a:latin typeface="Helvetica Neue"/>
                          <a:ea typeface="Helvetica Neue"/>
                          <a:cs typeface="Helvetica Neue"/>
                        </a:rPr>
                        <a:t>AI fails or reaches its budget</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Headline and keyword fallback</a:t>
                      </a:r>
                    </a:p>
                  </a:txBody>
                  <a:tcPr marL="91440" marR="91440" marT="45720" marB="45720">
                    <a:solidFill>
                      <a:srgbClr val="FFFFFF"/>
                    </a:solidFill>
                  </a:tcPr>
                </a:tc>
              </a:tr>
              <a:tr h="666750">
                <a:tc>
                  <a:txBody>
                    <a:bodyPr/>
                    <a:lstStyle/>
                    <a:p>
                      <a:r>
                        <a:rPr sz="1950" b="1">
                          <a:solidFill>
                            <a:srgbClr val="172B4D"/>
                          </a:solidFill>
                          <a:latin typeface="Helvetica Neue"/>
                          <a:ea typeface="Helvetica Neue"/>
                          <a:cs typeface="Helvetica Neue"/>
                        </a:rPr>
                        <a:t>Repeated refresh clicks</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One refresh at a time in this process</a:t>
                      </a:r>
                    </a:p>
                  </a:txBody>
                  <a:tcPr marL="91440" marR="91440" marT="45720" marB="45720">
                    <a:solidFill>
                      <a:srgbClr val="FFFFFF"/>
                    </a:solidFill>
                  </a:tcPr>
                </a:tc>
              </a:tr>
              <a:tr h="666750">
                <a:tc>
                  <a:txBody>
                    <a:bodyPr/>
                    <a:lstStyle/>
                    <a:p>
                      <a:r>
                        <a:rPr sz="1950" b="1">
                          <a:solidFill>
                            <a:srgbClr val="172B4D"/>
                          </a:solidFill>
                          <a:latin typeface="Helvetica Neue"/>
                          <a:ea typeface="Helvetica Neue"/>
                          <a:cs typeface="Helvetica Neue"/>
                        </a:rPr>
                        <a:t>Missing date or changed settings</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Unknown date, or a clear refresh prompt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729708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32CF3E-DE3D-4B31-871C-8DA3D3215B78}"/>
              </a:ext>
            </a:extLst>
          </p:cNvPr>
          <p:cNvSpPr>
            <a:spLocks xmlns:a="http://schemas.openxmlformats.org/drawingml/2006/main" noGrp="1"/>
          </p:cNvSpPr>
          <p:nvPr/>
        </p:nvSpPr>
        <p:spPr>
          <a:xfrm xmlns:a="http://schemas.openxmlformats.org/drawingml/2006/main">
            <a:off x="723900" y="59055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What I verified</a:t>
            </a:r>
          </a:p>
        </p:txBody>
      </p:sp>
      <p:sp>
        <p:nvSpPr>
          <p:cNvPr id="2" name="">
            <a:extLst xmlns:a="http://schemas.openxmlformats.org/drawingml/2006/main">
              <a:ext uri="{FF2B5EF4-FFF2-40B4-BE49-F238E27FC236}">
                <a16:creationId xmlns:a16="http://schemas.microsoft.com/office/drawing/2014/main" id="{2F1360FB-E110-4FB8-ACAE-64822178B993}"/>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86DC2B6-0411-4E58-A033-539A7914905A}"/>
              </a:ext>
            </a:extLst>
          </p:cNvPr>
          <p:cNvSpPr>
            <a:spLocks xmlns:a="http://schemas.openxmlformats.org/drawingml/2006/main" noGrp="1"/>
          </p:cNvSpPr>
          <p:nvPr/>
        </p:nvSpPr>
        <p:spPr>
          <a:xfrm xmlns:a="http://schemas.openxmlformats.org/drawingml/2006/main">
            <a:off x="723900" y="1809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2358A5"/>
                </a:solidFill>
                <a:latin typeface="Helvetica Neue"/>
                <a:ea typeface="Helvetica Neue"/>
                <a:cs typeface="Helvetica Neue"/>
              </a:defRPr>
            </a:pPr>
            <a:r>
              <a:rPr sz="4200" b="1">
                <a:solidFill>
                  <a:srgbClr val="2358A5"/>
                </a:solidFill>
                <a:latin typeface="Helvetica Neue"/>
                <a:ea typeface="Helvetica Neue"/>
                <a:cs typeface="Helvetica Neue"/>
              </a:rPr>
              <a:t>145 passing tests</a:t>
            </a:r>
          </a:p>
        </p:txBody>
      </p:sp>
      <p:sp>
        <p:nvSpPr>
          <p:cNvPr id="4" name="">
            <a:extLst xmlns:a="http://schemas.openxmlformats.org/drawingml/2006/main">
              <a:ext uri="{FF2B5EF4-FFF2-40B4-BE49-F238E27FC236}">
                <a16:creationId xmlns:a16="http://schemas.microsoft.com/office/drawing/2014/main" id="{24CFF2E7-BD86-49F5-94C2-FA32AF2E5047}"/>
              </a:ext>
            </a:extLst>
          </p:cNvPr>
          <p:cNvSpPr>
            <a:spLocks xmlns:a="http://schemas.openxmlformats.org/drawingml/2006/main" noGrp="1"/>
          </p:cNvSpPr>
          <p:nvPr/>
        </p:nvSpPr>
        <p:spPr>
          <a:xfrm xmlns:a="http://schemas.openxmlformats.org/drawingml/2006/main">
            <a:off x="723900" y="2809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176"/>
                </a:solidFill>
                <a:latin typeface="Helvetica Neue"/>
                <a:ea typeface="Helvetica Neue"/>
                <a:cs typeface="Helvetica Neue"/>
              </a:defRPr>
            </a:pPr>
            <a:r>
              <a:rPr sz="2250" b="0">
                <a:solidFill>
                  <a:srgbClr val="526176"/>
                </a:solidFill>
                <a:latin typeface="Helvetica Neue"/>
                <a:ea typeface="Helvetica Neue"/>
                <a:cs typeface="Helvetica Neue"/>
              </a:rPr>
              <a:t>Local Python and the Linux container</a:t>
            </a:r>
          </a:p>
        </p:txBody>
      </p:sp>
      <p:sp>
        <p:nvSpPr>
          <p:cNvPr id="5" name="">
            <a:extLst xmlns:a="http://schemas.openxmlformats.org/drawingml/2006/main">
              <a:ext uri="{FF2B5EF4-FFF2-40B4-BE49-F238E27FC236}">
                <a16:creationId xmlns:a16="http://schemas.microsoft.com/office/drawing/2014/main" id="{9C3E7563-F324-4C2F-9BE0-642AABE8312B}"/>
              </a:ext>
            </a:extLst>
          </p:cNvPr>
          <p:cNvSpPr>
            <a:spLocks xmlns:a="http://schemas.openxmlformats.org/drawingml/2006/main" noGrp="1"/>
          </p:cNvSpPr>
          <p:nvPr/>
        </p:nvSpPr>
        <p:spPr>
          <a:xfrm xmlns:a="http://schemas.openxmlformats.org/drawingml/2006/main">
            <a:off x="723900" y="3905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B4D"/>
                </a:solidFill>
                <a:latin typeface="Helvetica Neue"/>
                <a:ea typeface="Helvetica Neue"/>
                <a:cs typeface="Helvetica Neue"/>
              </a:defRPr>
            </a:pPr>
            <a:r>
              <a:rPr sz="2400" b="1">
                <a:solidFill>
                  <a:srgbClr val="172B4D"/>
                </a:solidFill>
                <a:latin typeface="Helvetica Neue"/>
                <a:ea typeface="Helvetica Neue"/>
                <a:cs typeface="Helvetica Neue"/>
              </a:rPr>
              <a:t>Real sources, two-model fallback, OpenRouter checks</a:t>
            </a:r>
          </a:p>
        </p:txBody>
      </p:sp>
      <p:sp>
        <p:nvSpPr>
          <p:cNvPr id="6" name="">
            <a:extLst xmlns:a="http://schemas.openxmlformats.org/drawingml/2006/main">
              <a:ext uri="{FF2B5EF4-FFF2-40B4-BE49-F238E27FC236}">
                <a16:creationId xmlns:a16="http://schemas.microsoft.com/office/drawing/2014/main" id="{D210601C-4288-4936-84E2-2C19F61439A8}"/>
              </a:ext>
            </a:extLst>
          </p:cNvPr>
          <p:cNvSpPr>
            <a:spLocks xmlns:a="http://schemas.openxmlformats.org/drawingml/2006/main" noGrp="1"/>
          </p:cNvSpPr>
          <p:nvPr/>
        </p:nvSpPr>
        <p:spPr>
          <a:xfrm xmlns:a="http://schemas.openxmlformats.org/drawingml/2006/main">
            <a:off x="723900" y="4714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176"/>
                </a:solidFill>
                <a:latin typeface="Helvetica Neue"/>
                <a:ea typeface="Helvetica Neue"/>
                <a:cs typeface="Helvetica Neue"/>
              </a:defRPr>
            </a:pPr>
            <a:r>
              <a:rPr sz="2250" b="0">
                <a:solidFill>
                  <a:srgbClr val="526176"/>
                </a:solidFill>
                <a:latin typeface="Helvetica Neue"/>
                <a:ea typeface="Helvetica Neue"/>
                <a:cs typeface="Helvetica Neue"/>
              </a:rPr>
              <a:t>Docker health check and persistent SQLite volume</a:t>
            </a:r>
          </a:p>
        </p:txBody>
      </p:sp>
    </p:spTree>
    <p:extLst>
      <p:ext uri="{BB962C8B-B14F-4D97-AF65-F5344CB8AC3E}">
        <p14:creationId xmlns:p14="http://schemas.microsoft.com/office/powerpoint/2010/main" val="14698432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B15AF7-8A37-485E-B370-7B77E9E0FACC}"/>
              </a:ext>
            </a:extLst>
          </p:cNvPr>
          <p:cNvSpPr>
            <a:spLocks xmlns:a="http://schemas.openxmlformats.org/drawingml/2006/main" noGrp="1"/>
          </p:cNvSpPr>
          <p:nvPr/>
        </p:nvSpPr>
        <p:spPr>
          <a:xfrm xmlns:a="http://schemas.openxmlformats.org/drawingml/2006/main">
            <a:off x="723900" y="59055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What I would improve next</a:t>
            </a:r>
          </a:p>
        </p:txBody>
      </p:sp>
      <p:sp>
        <p:nvSpPr>
          <p:cNvPr id="2" name="">
            <a:extLst xmlns:a="http://schemas.openxmlformats.org/drawingml/2006/main">
              <a:ext uri="{FF2B5EF4-FFF2-40B4-BE49-F238E27FC236}">
                <a16:creationId xmlns:a16="http://schemas.microsoft.com/office/drawing/2014/main" id="{C25D8E06-1B88-442E-87B5-9DF124E87FD8}"/>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821BC448-07D6-4496-86C8-7C8D045602AE}"/>
              </a:ext>
            </a:extLst>
          </p:cNvPr>
          <p:cNvSpPr>
            <a:spLocks xmlns:a="http://schemas.openxmlformats.org/drawingml/2006/main" noGrp="1"/>
          </p:cNvSpPr>
          <p:nvPr/>
        </p:nvSpPr>
        <p:spPr>
          <a:xfrm xmlns:a="http://schemas.openxmlformats.org/drawingml/2006/main">
            <a:off x="723900" y="1809750"/>
            <a:ext cx="304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58A5"/>
                </a:solidFill>
                <a:latin typeface="Helvetica Neue"/>
                <a:ea typeface="Helvetica Neue"/>
                <a:cs typeface="Helvetica Neue"/>
              </a:defRPr>
            </a:pPr>
            <a:r>
              <a:rPr sz="2250" b="1">
                <a:solidFill>
                  <a:srgbClr val="2358A5"/>
                </a:solidFill>
                <a:latin typeface="Helvetica Neue"/>
                <a:ea typeface="Helvetica Neue"/>
                <a:cs typeface="Helvetica Neue"/>
              </a:rPr>
              <a:t>Quality first</a:t>
            </a:r>
          </a:p>
        </p:txBody>
      </p:sp>
      <p:sp>
        <p:nvSpPr>
          <p:cNvPr id="4" name="">
            <a:extLst xmlns:a="http://schemas.openxmlformats.org/drawingml/2006/main">
              <a:ext uri="{FF2B5EF4-FFF2-40B4-BE49-F238E27FC236}">
                <a16:creationId xmlns:a16="http://schemas.microsoft.com/office/drawing/2014/main" id="{9D7E9B24-4803-40C6-B6E2-F8244D505B52}"/>
              </a:ext>
            </a:extLst>
          </p:cNvPr>
          <p:cNvSpPr>
            <a:spLocks xmlns:a="http://schemas.openxmlformats.org/drawingml/2006/main" noGrp="1"/>
          </p:cNvSpPr>
          <p:nvPr/>
        </p:nvSpPr>
        <p:spPr>
          <a:xfrm xmlns:a="http://schemas.openxmlformats.org/drawingml/2006/main">
            <a:off x="4000500" y="1809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4D"/>
                </a:solidFill>
                <a:latin typeface="Helvetica Neue"/>
                <a:ea typeface="Helvetica Neue"/>
                <a:cs typeface="Helvetica Neue"/>
              </a:defRPr>
            </a:pPr>
            <a:r>
              <a:rPr sz="2175" b="0">
                <a:solidFill>
                  <a:srgbClr val="172B4D"/>
                </a:solidFill>
                <a:latin typeface="Helvetica Neue"/>
                <a:ea typeface="Helvetica Neue"/>
                <a:cs typeface="Helvetica Neue"/>
              </a:rPr>
              <a:t>Evaluate grouping, dates, relevance, and summaries</a:t>
            </a:r>
          </a:p>
        </p:txBody>
      </p:sp>
      <p:sp>
        <p:nvSpPr>
          <p:cNvPr id="5" name="">
            <a:extLst xmlns:a="http://schemas.openxmlformats.org/drawingml/2006/main">
              <a:ext uri="{FF2B5EF4-FFF2-40B4-BE49-F238E27FC236}">
                <a16:creationId xmlns:a16="http://schemas.microsoft.com/office/drawing/2014/main" id="{29F9B54A-30A9-4DA4-BDA6-8C886B28B8EE}"/>
              </a:ext>
            </a:extLst>
          </p:cNvPr>
          <p:cNvSpPr>
            <a:spLocks xmlns:a="http://schemas.openxmlformats.org/drawingml/2006/main" noGrp="1"/>
          </p:cNvSpPr>
          <p:nvPr/>
        </p:nvSpPr>
        <p:spPr>
          <a:xfrm xmlns:a="http://schemas.openxmlformats.org/drawingml/2006/main">
            <a:off x="723900" y="2771775"/>
            <a:ext cx="304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58A5"/>
                </a:solidFill>
                <a:latin typeface="Helvetica Neue"/>
                <a:ea typeface="Helvetica Neue"/>
                <a:cs typeface="Helvetica Neue"/>
              </a:defRPr>
            </a:pPr>
            <a:r>
              <a:rPr sz="2250" b="1">
                <a:solidFill>
                  <a:srgbClr val="2358A5"/>
                </a:solidFill>
                <a:latin typeface="Helvetica Neue"/>
                <a:ea typeface="Helvetica Neue"/>
                <a:cs typeface="Helvetica Neue"/>
              </a:rPr>
              <a:t>Before public use</a:t>
            </a:r>
          </a:p>
        </p:txBody>
      </p:sp>
      <p:sp>
        <p:nvSpPr>
          <p:cNvPr id="6" name="">
            <a:extLst xmlns:a="http://schemas.openxmlformats.org/drawingml/2006/main">
              <a:ext uri="{FF2B5EF4-FFF2-40B4-BE49-F238E27FC236}">
                <a16:creationId xmlns:a16="http://schemas.microsoft.com/office/drawing/2014/main" id="{5D277661-D7E5-45F0-9391-FF5BFF04BA56}"/>
              </a:ext>
            </a:extLst>
          </p:cNvPr>
          <p:cNvSpPr>
            <a:spLocks xmlns:a="http://schemas.openxmlformats.org/drawingml/2006/main" noGrp="1"/>
          </p:cNvSpPr>
          <p:nvPr/>
        </p:nvSpPr>
        <p:spPr>
          <a:xfrm xmlns:a="http://schemas.openxmlformats.org/drawingml/2006/main">
            <a:off x="4000500" y="27717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4D"/>
                </a:solidFill>
                <a:latin typeface="Helvetica Neue"/>
                <a:ea typeface="Helvetica Neue"/>
                <a:cs typeface="Helvetica Neue"/>
              </a:defRPr>
            </a:pPr>
            <a:r>
              <a:rPr sz="2175" b="0">
                <a:solidFill>
                  <a:srgbClr val="172B4D"/>
                </a:solidFill>
                <a:latin typeface="Helvetica Neue"/>
                <a:ea typeface="Helvetica Neue"/>
                <a:cs typeface="Helvetica Neue"/>
              </a:rPr>
              <a:t>Authentication, usage limits, secrets, and backups</a:t>
            </a:r>
          </a:p>
        </p:txBody>
      </p:sp>
      <p:sp>
        <p:nvSpPr>
          <p:cNvPr id="7" name="">
            <a:extLst xmlns:a="http://schemas.openxmlformats.org/drawingml/2006/main">
              <a:ext uri="{FF2B5EF4-FFF2-40B4-BE49-F238E27FC236}">
                <a16:creationId xmlns:a16="http://schemas.microsoft.com/office/drawing/2014/main" id="{BE976E15-7F24-4E01-9E73-95D0E9F53A50}"/>
              </a:ext>
            </a:extLst>
          </p:cNvPr>
          <p:cNvSpPr>
            <a:spLocks xmlns:a="http://schemas.openxmlformats.org/drawingml/2006/main" noGrp="1"/>
          </p:cNvSpPr>
          <p:nvPr/>
        </p:nvSpPr>
        <p:spPr>
          <a:xfrm xmlns:a="http://schemas.openxmlformats.org/drawingml/2006/main">
            <a:off x="723900" y="3733800"/>
            <a:ext cx="304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58A5"/>
                </a:solidFill>
                <a:latin typeface="Helvetica Neue"/>
                <a:ea typeface="Helvetica Neue"/>
                <a:cs typeface="Helvetica Neue"/>
              </a:defRPr>
            </a:pPr>
            <a:r>
              <a:rPr sz="2250" b="1">
                <a:solidFill>
                  <a:srgbClr val="2358A5"/>
                </a:solidFill>
                <a:latin typeface="Helvetica Neue"/>
                <a:ea typeface="Helvetica Neue"/>
                <a:cs typeface="Helvetica Neue"/>
              </a:rPr>
              <a:t>As usage grows</a:t>
            </a:r>
          </a:p>
        </p:txBody>
      </p:sp>
      <p:sp>
        <p:nvSpPr>
          <p:cNvPr id="8" name="">
            <a:extLst xmlns:a="http://schemas.openxmlformats.org/drawingml/2006/main">
              <a:ext uri="{FF2B5EF4-FFF2-40B4-BE49-F238E27FC236}">
                <a16:creationId xmlns:a16="http://schemas.microsoft.com/office/drawing/2014/main" id="{D2442135-215F-4220-A2FF-D61E24BA7C35}"/>
              </a:ext>
            </a:extLst>
          </p:cNvPr>
          <p:cNvSpPr>
            <a:spLocks xmlns:a="http://schemas.openxmlformats.org/drawingml/2006/main" noGrp="1"/>
          </p:cNvSpPr>
          <p:nvPr/>
        </p:nvSpPr>
        <p:spPr>
          <a:xfrm xmlns:a="http://schemas.openxmlformats.org/drawingml/2006/main">
            <a:off x="4000500" y="37338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4D"/>
                </a:solidFill>
                <a:latin typeface="Helvetica Neue"/>
                <a:ea typeface="Helvetica Neue"/>
                <a:cs typeface="Helvetica Neue"/>
              </a:defRPr>
            </a:pPr>
            <a:r>
              <a:rPr sz="2175" b="0">
                <a:solidFill>
                  <a:srgbClr val="172B4D"/>
                </a:solidFill>
                <a:latin typeface="Helvetica Neue"/>
                <a:ea typeface="Helvetica Neue"/>
                <a:cs typeface="Helvetica Neue"/>
              </a:rPr>
              <a:t>Background jobs, metrics, and shared coordination</a:t>
            </a:r>
          </a:p>
        </p:txBody>
      </p:sp>
      <p:sp>
        <p:nvSpPr>
          <p:cNvPr id="9" name="">
            <a:extLst xmlns:a="http://schemas.openxmlformats.org/drawingml/2006/main">
              <a:ext uri="{FF2B5EF4-FFF2-40B4-BE49-F238E27FC236}">
                <a16:creationId xmlns:a16="http://schemas.microsoft.com/office/drawing/2014/main" id="{A5129750-AB69-4EDA-843F-DE5F9F2B0A71}"/>
              </a:ext>
            </a:extLst>
          </p:cNvPr>
          <p:cNvSpPr>
            <a:spLocks xmlns:a="http://schemas.openxmlformats.org/drawingml/2006/main" noGrp="1"/>
          </p:cNvSpPr>
          <p:nvPr/>
        </p:nvSpPr>
        <p:spPr>
          <a:xfrm xmlns:a="http://schemas.openxmlformats.org/drawingml/2006/main">
            <a:off x="723900" y="4695825"/>
            <a:ext cx="304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58A5"/>
                </a:solidFill>
                <a:latin typeface="Helvetica Neue"/>
                <a:ea typeface="Helvetica Neue"/>
                <a:cs typeface="Helvetica Neue"/>
              </a:defRPr>
            </a:pPr>
            <a:r>
              <a:rPr sz="2250" b="1">
                <a:solidFill>
                  <a:srgbClr val="2358A5"/>
                </a:solidFill>
                <a:latin typeface="Helvetica Neue"/>
                <a:ea typeface="Helvetica Neue"/>
                <a:cs typeface="Helvetica Neue"/>
              </a:rPr>
              <a:t>When users need it</a:t>
            </a:r>
          </a:p>
        </p:txBody>
      </p:sp>
      <p:sp>
        <p:nvSpPr>
          <p:cNvPr id="10" name="">
            <a:extLst xmlns:a="http://schemas.openxmlformats.org/drawingml/2006/main">
              <a:ext uri="{FF2B5EF4-FFF2-40B4-BE49-F238E27FC236}">
                <a16:creationId xmlns:a16="http://schemas.microsoft.com/office/drawing/2014/main" id="{A875A9A0-B495-41ED-976E-8483545A2C3A}"/>
              </a:ext>
            </a:extLst>
          </p:cNvPr>
          <p:cNvSpPr>
            <a:spLocks xmlns:a="http://schemas.openxmlformats.org/drawingml/2006/main" noGrp="1"/>
          </p:cNvSpPr>
          <p:nvPr/>
        </p:nvSpPr>
        <p:spPr>
          <a:xfrm xmlns:a="http://schemas.openxmlformats.org/drawingml/2006/main">
            <a:off x="4000500" y="46958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4D"/>
                </a:solidFill>
                <a:latin typeface="Helvetica Neue"/>
                <a:ea typeface="Helvetica Neue"/>
                <a:cs typeface="Helvetica Neue"/>
              </a:defRPr>
            </a:pPr>
            <a:r>
              <a:rPr sz="2175" b="0">
                <a:solidFill>
                  <a:srgbClr val="172B4D"/>
                </a:solidFill>
                <a:latin typeface="Helvetica Neue"/>
                <a:ea typeface="Helvetica Neue"/>
                <a:cs typeface="Helvetica Neue"/>
              </a:rPr>
              <a:t>Settings UI, story history, and richer interactions</a:t>
            </a:r>
          </a:p>
        </p:txBody>
      </p:sp>
    </p:spTree>
    <p:extLst>
      <p:ext uri="{BB962C8B-B14F-4D97-AF65-F5344CB8AC3E}">
        <p14:creationId xmlns:p14="http://schemas.microsoft.com/office/powerpoint/2010/main" val="867763695"/>
      </p:ext>
    </p:extLst>
  </p:cSld>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
            <a:extLst>
              <a:ext uri="{FF2B5EF4-FFF2-40B4-BE49-F238E27FC236}">
                <a16:creationId xmlns:a16="http://schemas.microsoft.com/office/drawing/2014/main" id="{CC554AB8-5559-4AA4-BF75-B96A84B91961}"/>
              </a:ext>
            </a:extLst>
          </p:cNvPr>
          <p:cNvSpPr>
            <a:spLocks noGrp="1"/>
          </p:cNvSpPr>
          <p:nvPr/>
        </p:nvSpPr>
        <p:spPr>
          <a:xfrm>
            <a:off x="723900" y="590550"/>
            <a:ext cx="10744200" cy="819150"/>
          </a:xfrm>
          <a:prstGeom prst="rect">
            <a:avLst/>
          </a:prstGeom>
          <a:noFill/>
          <a:ln w="0">
            <a:noFill/>
          </a:ln>
        </p:spPr>
        <p:txBody>
          <a:bodyPr>
            <a:noAutofit/>
          </a:bodyPr>
          <a:lstStyle/>
          <a:p>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The complete flow</a:t>
            </a:r>
          </a:p>
        </p:txBody>
      </p:sp>
      <p:sp>
        <p:nvSpPr>
          <p:cNvPr id="2" name="">
            <a:extLst>
              <a:ext uri="{FF2B5EF4-FFF2-40B4-BE49-F238E27FC236}">
                <a16:creationId xmlns:a16="http://schemas.microsoft.com/office/drawing/2014/main" id="{861F0F0A-91DE-4188-BE5F-9B6C761BD426}"/>
              </a:ext>
            </a:extLst>
          </p:cNvPr>
          <p:cNvSpPr>
            <a:spLocks noGrp="1"/>
          </p:cNvSpPr>
          <p:nvPr/>
        </p:nvSpPr>
        <p:spPr>
          <a:xfrm>
            <a:off x="10953750" y="6238875"/>
            <a:ext cx="571500" cy="285750"/>
          </a:xfrm>
          <a:prstGeom prst="rect">
            <a:avLst/>
          </a:prstGeom>
          <a:noFill/>
          <a:ln w="0">
            <a:noFill/>
          </a:ln>
        </p:spPr>
        <p:txBody>
          <a:bodyPr>
            <a:noAutofit/>
          </a:bodyPr>
          <a:lstStyle/>
          <a:p>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02</a:t>
            </a:r>
          </a:p>
        </p:txBody>
      </p:sp>
      <p:pic>
        <p:nvPicPr>
          <p:cNvPr id="16" name="Picture 15" descr="pr-news-monitor-flow.jpg"/>
          <p:cNvPicPr>
            <a:picLocks noChangeAspect="1"/>
          </p:cNvPicPr>
          <p:nvPr/>
        </p:nvPicPr>
        <p:blipFill>
          <a:blip r:embed="rId2"/>
          <a:stretch>
            <a:fillRect/>
          </a:stretch>
        </p:blipFill>
        <p:spPr>
          <a:xfrm>
            <a:off x="722376" y="1645920"/>
            <a:ext cx="6949440" cy="6787985"/>
          </a:xfrm>
          <a:prstGeom prst="rect">
            <a:avLst/>
          </a:prstGeom>
        </p:spPr>
      </p:pic>
      <p:sp>
        <p:nvSpPr>
          <p:cNvPr id="17" name="TextBox 16"/>
          <p:cNvSpPr txBox="1"/>
          <p:nvPr/>
        </p:nvSpPr>
        <p:spPr>
          <a:xfrm>
            <a:off x="8138160" y="1645920"/>
            <a:ext cx="3291840" cy="2286000"/>
          </a:xfrm>
          <a:prstGeom prst="rect">
            <a:avLst/>
          </a:prstGeom>
          <a:noFill/>
        </p:spPr>
        <p:txBody>
          <a:bodyPr wrap="square">
            <a:spAutoFit/>
          </a:bodyPr>
          <a:lstStyle/>
          <a:p>
            <a:r>
              <a:rPr sz="2100" b="0">
                <a:solidFill>
                  <a:srgbClr val="526176"/>
                </a:solidFill>
                <a:latin typeface="Helvetica Neue"/>
              </a:rPr>
              <a:t>From monitoring scope to evidence-backed feeds. The industry feed reuses the same saved articles and analysis 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
            <a:extLst>
              <a:ext uri="{FF2B5EF4-FFF2-40B4-BE49-F238E27FC236}">
                <a16:creationId xmlns:a16="http://schemas.microsoft.com/office/drawing/2014/main" id="{EE5CAD81-EF00-438B-AE28-8506CF02FD1F}"/>
              </a:ext>
            </a:extLst>
          </p:cNvPr>
          <p:cNvSpPr>
            <a:spLocks noGrp="1"/>
          </p:cNvSpPr>
          <p:nvPr/>
        </p:nvSpPr>
        <p:spPr>
          <a:xfrm>
            <a:off x="723900" y="590550"/>
            <a:ext cx="10744200" cy="819150"/>
          </a:xfrm>
          <a:prstGeom prst="rect">
            <a:avLst/>
          </a:prstGeom>
          <a:noFill/>
          <a:ln w="0">
            <a:noFill/>
          </a:ln>
        </p:spPr>
        <p:txBody>
          <a:bodyPr>
            <a:noAutofit/>
          </a:bodyPr>
          <a:lstStyle/>
          <a:p>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Prototype now, prod when it earns it</a:t>
            </a:r>
          </a:p>
        </p:txBody>
      </p:sp>
      <p:sp>
        <p:nvSpPr>
          <p:cNvPr id="2" name="">
            <a:extLst>
              <a:ext uri="{FF2B5EF4-FFF2-40B4-BE49-F238E27FC236}">
                <a16:creationId xmlns:a16="http://schemas.microsoft.com/office/drawing/2014/main" id="{3BDDF276-1FBA-45A4-9ADA-7D77B1DFA4B2}"/>
              </a:ext>
            </a:extLst>
          </p:cNvPr>
          <p:cNvSpPr>
            <a:spLocks noGrp="1"/>
          </p:cNvSpPr>
          <p:nvPr/>
        </p:nvSpPr>
        <p:spPr>
          <a:xfrm>
            <a:off x="10953750" y="6238875"/>
            <a:ext cx="571500" cy="285750"/>
          </a:xfrm>
          <a:prstGeom prst="rect">
            <a:avLst/>
          </a:prstGeom>
          <a:noFill/>
          <a:ln w="0">
            <a:noFill/>
          </a:ln>
        </p:spPr>
        <p:txBody>
          <a:bodyPr>
            <a:noAutofit/>
          </a:bodyPr>
          <a:lstStyle/>
          <a:p>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04</a:t>
            </a:r>
          </a:p>
        </p:txBody>
      </p:sp>
      <p:graphicFrame>
        <p:nvGraphicFramePr>
          <p:cNvPr id="6" name=""/>
          <p:cNvGraphicFramePr/>
          <p:nvPr/>
        </p:nvGraphicFramePr>
        <p:xfrm>
          <a:off x="723900" y="1809750"/>
          <a:ext cx="10744200" cy="2875788"/>
        </p:xfrm>
        <a:graphic>
          <a:graphicData uri="http://schemas.openxmlformats.org/drawingml/2006/table">
            <a:tbl>
              <a:tblPr/>
              <a:tblGrid>
                <a:gridCol w="2952750"/>
                <a:gridCol w="3762375"/>
                <a:gridCol w="4029075"/>
              </a:tblGrid>
              <a:tr h="571500">
                <a:tc>
                  <a:txBody>
                    <a:bodyPr/>
                    <a:lstStyle/>
                    <a:p>
                      <a:r>
                        <a:rPr sz="1875" b="1">
                          <a:solidFill>
                            <a:srgbClr val="172B4D"/>
                          </a:solidFill>
                          <a:latin typeface="Helvetica Neue"/>
                          <a:ea typeface="Helvetica Neue"/>
                          <a:cs typeface="Helvetica Neue"/>
                        </a:rPr>
                        <a:t>Choice</a:t>
                      </a:r>
                    </a:p>
                  </a:txBody>
                  <a:tcPr marL="91440" marR="91440" marT="45720" marB="45720">
                    <a:solidFill>
                      <a:srgbClr val="EAF0F8"/>
                    </a:solidFill>
                  </a:tcPr>
                </a:tc>
                <a:tc>
                  <a:txBody>
                    <a:bodyPr/>
                    <a:lstStyle/>
                    <a:p>
                      <a:r>
                        <a:rPr sz="1875" b="1">
                          <a:solidFill>
                            <a:srgbClr val="526176"/>
                          </a:solidFill>
                          <a:latin typeface="Helvetica Neue"/>
                          <a:ea typeface="Helvetica Neue"/>
                          <a:cs typeface="Helvetica Neue"/>
                        </a:rPr>
                        <a:t>Now</a:t>
                      </a:r>
                    </a:p>
                  </a:txBody>
                  <a:tcPr marL="91440" marR="91440" marT="45720" marB="45720">
                    <a:solidFill>
                      <a:srgbClr val="EAF0F8"/>
                    </a:solidFill>
                  </a:tcPr>
                </a:tc>
                <a:tc>
                  <a:txBody>
                    <a:bodyPr/>
                    <a:lstStyle/>
                    <a:p>
                      <a:r>
                        <a:rPr sz="1875" b="1">
                          <a:solidFill>
                            <a:srgbClr val="526176"/>
                          </a:solidFill>
                          <a:latin typeface="Helvetica Neue"/>
                          <a:ea typeface="Helvetica Neue"/>
                          <a:cs typeface="Helvetica Neue"/>
                        </a:rPr>
                        <a:t>Prod trigger</a:t>
                      </a:r>
                    </a:p>
                  </a:txBody>
                  <a:tcPr marL="91440" marR="91440" marT="45720" marB="45720">
                    <a:solidFill>
                      <a:srgbClr val="EAF0F8"/>
                    </a:solidFill>
                  </a:tcPr>
                </a:tc>
              </a:tr>
              <a:tr h="384048">
                <a:tc>
                  <a:txBody>
                    <a:bodyPr/>
                    <a:lstStyle/>
                    <a:p>
                      <a:r>
                        <a:rPr sz="1950" b="1">
                          <a:solidFill>
                            <a:srgbClr val="172B4D"/>
                          </a:solidFill>
                          <a:latin typeface="Helvetica Neue"/>
                          <a:ea typeface="Helvetica Neue"/>
                          <a:cs typeface="Helvetica Neue"/>
                        </a:rPr>
                        <a:t>Streamlit UI</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One Python app, sync refresh</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FastAPI + frontend for other clients</a:t>
                      </a:r>
                    </a:p>
                  </a:txBody>
                  <a:tcPr marL="91440" marR="91440" marT="45720" marB="45720">
                    <a:solidFill>
                      <a:srgbClr val="FFFFFF"/>
                    </a:solidFill>
                  </a:tcPr>
                </a:tc>
              </a:tr>
              <a:tr h="384048">
                <a:tc>
                  <a:txBody>
                    <a:bodyPr/>
                    <a:lstStyle/>
                    <a:p>
                      <a:r>
                        <a:rPr sz="1950" b="1">
                          <a:solidFill>
                            <a:srgbClr val="172B4D"/>
                          </a:solidFill>
                          <a:latin typeface="Helvetica Neue"/>
                          <a:ea typeface="Helvetica Neue"/>
                          <a:cs typeface="Helvetica Neue"/>
                        </a:rPr>
                        <a:t>SQLite + lock</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Durable, no service, one process</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Postgres + queued jobs + shared lock</a:t>
                      </a:r>
                    </a:p>
                  </a:txBody>
                  <a:tcPr marL="91440" marR="91440" marT="45720" marB="45720">
                    <a:solidFill>
                      <a:srgbClr val="FFFFFF"/>
                    </a:solidFill>
                  </a:tcPr>
                </a:tc>
              </a:tr>
              <a:tr h="384048">
                <a:tc>
                  <a:txBody>
                    <a:bodyPr/>
                    <a:lstStyle/>
                    <a:p>
                      <a:r>
                        <a:rPr sz="1950" b="1">
                          <a:solidFill>
                            <a:srgbClr val="172B4D"/>
                          </a:solidFill>
                          <a:latin typeface="Helvetica Neue"/>
                          <a:ea typeface="Helvetica Neue"/>
                          <a:cs typeface="Helvetica Neue"/>
                        </a:rPr>
                        <a:t>TF-IDF grouping</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Cheap, deterministic</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Embeddings verifier if eval proves misses</a:t>
                      </a:r>
                    </a:p>
                  </a:txBody>
                  <a:tcPr marL="91440" marR="91440" marT="45720" marB="45720">
                    <a:solidFill>
                      <a:srgbClr val="FFFFFF"/>
                    </a:solidFill>
                  </a:tcPr>
                </a:tc>
              </a:tr>
              <a:tr h="384048">
                <a:tc>
                  <a:txBody>
                    <a:bodyPr/>
                    <a:lstStyle/>
                    <a:p>
                      <a:r>
                        <a:rPr sz="1950" b="1">
                          <a:solidFill>
                            <a:srgbClr val="172B4D"/>
                          </a:solidFill>
                          <a:latin typeface="Helvetica Neue"/>
                          <a:ea typeface="Helvetica Neue"/>
                          <a:cs typeface="Helvetica Neue"/>
                        </a:rPr>
                        <a:t>Mini + fallback LLM</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Second model, strict schema</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Re-pick from measured quality and cost</a:t>
                      </a:r>
                    </a:p>
                  </a:txBody>
                  <a:tcPr marL="91440" marR="91440" marT="45720" marB="45720">
                    <a:solidFill>
                      <a:srgbClr val="FFFFFF"/>
                    </a:solidFill>
                  </a:tcPr>
                </a:tc>
              </a:tr>
              <a:tr h="384048">
                <a:tc>
                  <a:txBody>
                    <a:bodyPr/>
                    <a:lstStyle/>
                    <a:p>
                      <a:r>
                        <a:rPr sz="1950" b="1">
                          <a:solidFill>
                            <a:srgbClr val="172B4D"/>
                          </a:solidFill>
                          <a:latin typeface="Helvetica Neue"/>
                          <a:ea typeface="Helvetica Neue"/>
                          <a:cs typeface="Helvetica Neue"/>
                        </a:rPr>
                        <a:t>YAML config</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Reviewable in git</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Settings UI for non-technical editors</a:t>
                      </a:r>
                    </a:p>
                  </a:txBody>
                  <a:tcPr marL="91440" marR="91440" marT="45720" marB="45720">
                    <a:solidFill>
                      <a:srgbClr val="FFFFFF"/>
                    </a:solidFill>
                  </a:tcPr>
                </a:tc>
              </a:tr>
              <a:tr h="384048">
                <a:tc>
                  <a:txBody>
                    <a:bodyPr/>
                    <a:lstStyle/>
                    <a:p>
                      <a:r>
                        <a:rPr sz="1950" b="1">
                          <a:solidFill>
                            <a:srgbClr val="172B4D"/>
                          </a:solidFill>
                          <a:latin typeface="Helvetica Neue"/>
                          <a:ea typeface="Helvetica Neue"/>
                          <a:cs typeface="Helvetica Neue"/>
                        </a:rPr>
                        <a:t>One container</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Docker + named volume</a:t>
                      </a:r>
                    </a:p>
                  </a:txBody>
                  <a:tcPr marL="91440" marR="91440" marT="45720" marB="45720">
                    <a:solidFill>
                      <a:srgbClr val="FFFFFF"/>
                    </a:solidFill>
                  </a:tcPr>
                </a:tc>
                <a:tc>
                  <a:txBody>
                    <a:bodyPr/>
                    <a:lstStyle/>
                    <a:p>
                      <a:r>
                        <a:rPr sz="1950" b="0">
                          <a:solidFill>
                            <a:srgbClr val="526176"/>
                          </a:solidFill>
                          <a:latin typeface="Helvetica Neue"/>
                          <a:ea typeface="Helvetica Neue"/>
                          <a:cs typeface="Helvetica Neue"/>
                        </a:rPr>
                        <a:t>Auth, secrets, backups, alerts first</a:t>
                      </a:r>
                    </a:p>
                  </a:txBody>
                  <a:tcPr marL="91440" marR="91440" marT="45720" marB="4572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DE32CF3E-DE3D-4B31-871C-8DA3D3215B78}"/>
              </a:ext>
            </a:extLst>
          </p:cNvPr>
          <p:cNvSpPr>
            <a:spLocks noGrp="1"/>
          </p:cNvSpPr>
          <p:nvPr/>
        </p:nvSpPr>
        <p:spPr>
          <a:xfrm>
            <a:off x="723900" y="590550"/>
            <a:ext cx="10744200" cy="819150"/>
          </a:xfrm>
          <a:prstGeom prst="rect">
            <a:avLst/>
          </a:prstGeom>
          <a:noFill/>
          <a:ln w="0">
            <a:noFill/>
          </a:ln>
        </p:spPr>
        <p:txBody>
          <a:bodyPr>
            <a:noAutofit/>
          </a:bodyPr>
          <a:lstStyle/>
          <a:p>
            <a:pPr>
              <a:defRPr sz="3450" b="1">
                <a:solidFill>
                  <a:srgbClr val="172B4D"/>
                </a:solidFill>
                <a:latin typeface="Helvetica Neue"/>
                <a:ea typeface="Helvetica Neue"/>
                <a:cs typeface="Helvetica Neue"/>
              </a:defRPr>
            </a:pPr>
            <a:r>
              <a:rPr sz="3450" b="1">
                <a:solidFill>
                  <a:srgbClr val="172B4D"/>
                </a:solidFill>
                <a:latin typeface="Helvetica Neue"/>
                <a:ea typeface="Helvetica Neue"/>
                <a:cs typeface="Helvetica Neue"/>
              </a:rPr>
              <a:t>Every number is a budget</a:t>
            </a:r>
          </a:p>
        </p:txBody>
      </p:sp>
      <p:sp>
        <p:nvSpPr>
          <p:cNvPr id="2" name="">
            <a:extLst>
              <a:ext uri="{FF2B5EF4-FFF2-40B4-BE49-F238E27FC236}">
                <a16:creationId xmlns:a16="http://schemas.microsoft.com/office/drawing/2014/main" id="{2F1360FB-E110-4FB8-ACAE-64822178B993}"/>
              </a:ext>
            </a:extLst>
          </p:cNvPr>
          <p:cNvSpPr>
            <a:spLocks noGrp="1"/>
          </p:cNvSpPr>
          <p:nvPr/>
        </p:nvSpPr>
        <p:spPr>
          <a:xfrm>
            <a:off x="10953750" y="6238875"/>
            <a:ext cx="571500" cy="285750"/>
          </a:xfrm>
          <a:prstGeom prst="rect">
            <a:avLst/>
          </a:prstGeom>
          <a:noFill/>
          <a:ln w="0">
            <a:noFill/>
          </a:ln>
        </p:spPr>
        <p:txBody>
          <a:bodyPr>
            <a:noAutofit/>
          </a:bodyPr>
          <a:lstStyle/>
          <a:p>
            <a:pPr>
              <a:defRPr sz="1500" b="0">
                <a:solidFill>
                  <a:srgbClr val="526176"/>
                </a:solidFill>
                <a:latin typeface="Helvetica Neue"/>
                <a:ea typeface="Helvetica Neue"/>
                <a:cs typeface="Helvetica Neue"/>
              </a:defRPr>
            </a:pPr>
            <a:r>
              <a:rPr sz="1500" b="0">
                <a:solidFill>
                  <a:srgbClr val="526176"/>
                </a:solidFill>
                <a:latin typeface="Helvetica Neue"/>
                <a:ea typeface="Helvetica Neue"/>
                <a:cs typeface="Helvetica Neue"/>
              </a:rPr>
              <a:t>08</a:t>
            </a:r>
          </a:p>
        </p:txBody>
      </p:sp>
      <p:sp>
        <p:nvSpPr>
          <p:cNvPr id="3" name="">
            <a:extLst>
              <a:ext uri="{FF2B5EF4-FFF2-40B4-BE49-F238E27FC236}">
                <a16:creationId xmlns:a16="http://schemas.microsoft.com/office/drawing/2014/main" id="{486DC2B6-0411-4E58-A033-539A7914905A}"/>
              </a:ext>
            </a:extLst>
          </p:cNvPr>
          <p:cNvSpPr>
            <a:spLocks noGrp="1"/>
          </p:cNvSpPr>
          <p:nvPr/>
        </p:nvSpPr>
        <p:spPr>
          <a:xfrm>
            <a:off x="723900" y="1809750"/>
            <a:ext cx="10477500" cy="857250"/>
          </a:xfrm>
          <a:prstGeom prst="rect">
            <a:avLst/>
          </a:prstGeom>
          <a:noFill/>
          <a:ln w="0">
            <a:noFill/>
          </a:ln>
        </p:spPr>
        <p:txBody>
          <a:bodyPr>
            <a:noAutofit/>
          </a:bodyPr>
          <a:lstStyle/>
          <a:p>
            <a:pPr>
              <a:defRPr sz="4200" b="1">
                <a:solidFill>
                  <a:srgbClr val="2358A5"/>
                </a:solidFill>
                <a:latin typeface="Helvetica Neue"/>
                <a:ea typeface="Helvetica Neue"/>
                <a:cs typeface="Helvetica Neue"/>
              </a:defRPr>
            </a:pPr>
            <a:r>
              <a:rPr sz="4200" b="1">
                <a:solidFill>
                  <a:srgbClr val="2358A5"/>
                </a:solidFill>
                <a:latin typeface="Helvetica Neue"/>
                <a:ea typeface="Helvetica Neue"/>
                <a:cs typeface="Helvetica Neue"/>
              </a:rPr>
              <a:t>Discover: 25 per source, 7 days, 60-second budgets</a:t>
            </a:r>
          </a:p>
        </p:txBody>
      </p:sp>
      <p:sp>
        <p:nvSpPr>
          <p:cNvPr id="4" name="">
            <a:extLst>
              <a:ext uri="{FF2B5EF4-FFF2-40B4-BE49-F238E27FC236}">
                <a16:creationId xmlns:a16="http://schemas.microsoft.com/office/drawing/2014/main" id="{24CFF2E7-BD86-49F5-94C2-FA32AF2E5047}"/>
              </a:ext>
            </a:extLst>
          </p:cNvPr>
          <p:cNvSpPr>
            <a:spLocks noGrp="1"/>
          </p:cNvSpPr>
          <p:nvPr/>
        </p:nvSpPr>
        <p:spPr>
          <a:xfrm>
            <a:off x="723900" y="2809875"/>
            <a:ext cx="10477500" cy="619125"/>
          </a:xfrm>
          <a:prstGeom prst="rect">
            <a:avLst/>
          </a:prstGeom>
          <a:noFill/>
          <a:ln w="0">
            <a:noFill/>
          </a:ln>
        </p:spPr>
        <p:txBody>
          <a:bodyPr>
            <a:noAutofit/>
          </a:bodyPr>
          <a:lstStyle/>
          <a:p>
            <a:pPr>
              <a:defRPr sz="2250" b="0">
                <a:solidFill>
                  <a:srgbClr val="526176"/>
                </a:solidFill>
                <a:latin typeface="Helvetica Neue"/>
                <a:ea typeface="Helvetica Neue"/>
                <a:cs typeface="Helvetica Neue"/>
              </a:defRPr>
            </a:pPr>
            <a:r>
              <a:rPr sz="2250" b="0">
                <a:solidFill>
                  <a:srgbClr val="526176"/>
                </a:solidFill>
                <a:latin typeface="Helvetica Neue"/>
                <a:ea typeface="Helvetica Neue"/>
                <a:cs typeface="Helvetica Neue"/>
              </a:rPr>
              <a:t>Extract: 2 MB pages, 15 seconds, 50-word minimum</a:t>
            </a:r>
          </a:p>
        </p:txBody>
      </p:sp>
      <p:sp>
        <p:nvSpPr>
          <p:cNvPr id="5" name="">
            <a:extLst>
              <a:ext uri="{FF2B5EF4-FFF2-40B4-BE49-F238E27FC236}">
                <a16:creationId xmlns:a16="http://schemas.microsoft.com/office/drawing/2014/main" id="{9C3E7563-F324-4C2F-9BE0-642AABE8312B}"/>
              </a:ext>
            </a:extLst>
          </p:cNvPr>
          <p:cNvSpPr>
            <a:spLocks noGrp="1"/>
          </p:cNvSpPr>
          <p:nvPr/>
        </p:nvSpPr>
        <p:spPr>
          <a:xfrm>
            <a:off x="723900" y="3905250"/>
            <a:ext cx="10477500" cy="619125"/>
          </a:xfrm>
          <a:prstGeom prst="rect">
            <a:avLst/>
          </a:prstGeom>
          <a:noFill/>
          <a:ln w="0">
            <a:noFill/>
          </a:ln>
        </p:spPr>
        <p:txBody>
          <a:bodyPr>
            <a:noAutofit/>
          </a:bodyPr>
          <a:lstStyle/>
          <a:p>
            <a:pPr>
              <a:defRPr sz="2400" b="1">
                <a:solidFill>
                  <a:srgbClr val="172B4D"/>
                </a:solidFill>
                <a:latin typeface="Helvetica Neue"/>
                <a:ea typeface="Helvetica Neue"/>
                <a:cs typeface="Helvetica Neue"/>
              </a:defRPr>
            </a:pPr>
            <a:r>
              <a:rPr sz="2400" b="1">
                <a:solidFill>
                  <a:srgbClr val="172B4D"/>
                </a:solidFill>
                <a:latin typeface="Helvetica Neue"/>
                <a:ea typeface="Helvetica Neue"/>
                <a:cs typeface="Helvetica Neue"/>
              </a:rPr>
              <a:t>Group: 200 articles, 8 per story, 0.42 similarity</a:t>
            </a:r>
          </a:p>
        </p:txBody>
      </p:sp>
      <p:sp>
        <p:nvSpPr>
          <p:cNvPr id="6" name="">
            <a:extLst>
              <a:ext uri="{FF2B5EF4-FFF2-40B4-BE49-F238E27FC236}">
                <a16:creationId xmlns:a16="http://schemas.microsoft.com/office/drawing/2014/main" id="{D210601C-4288-4936-84E2-2C19F61439A8}"/>
              </a:ext>
            </a:extLst>
          </p:cNvPr>
          <p:cNvSpPr>
            <a:spLocks noGrp="1"/>
          </p:cNvSpPr>
          <p:nvPr/>
        </p:nvSpPr>
        <p:spPr>
          <a:xfrm>
            <a:off x="723900" y="4714875"/>
            <a:ext cx="10477500" cy="762000"/>
          </a:xfrm>
          <a:prstGeom prst="rect">
            <a:avLst/>
          </a:prstGeom>
          <a:noFill/>
          <a:ln w="0">
            <a:noFill/>
          </a:ln>
        </p:spPr>
        <p:txBody>
          <a:bodyPr>
            <a:noAutofit/>
          </a:bodyPr>
          <a:lstStyle/>
          <a:p>
            <a:pPr>
              <a:defRPr sz="2250" b="0">
                <a:solidFill>
                  <a:srgbClr val="526176"/>
                </a:solidFill>
                <a:latin typeface="Helvetica Neue"/>
                <a:ea typeface="Helvetica Neue"/>
                <a:cs typeface="Helvetica Neue"/>
              </a:defRPr>
            </a:pPr>
            <a:r>
              <a:rPr sz="2250" b="0">
                <a:solidFill>
                  <a:srgbClr val="526176"/>
                </a:solidFill>
                <a:latin typeface="Helvetica Neue"/>
                <a:ea typeface="Helvetica Neue"/>
                <a:cs typeface="Helvetica Neue"/>
              </a:rPr>
              <a:t>Analyze: 4k chars, 20 calls in 90s, 2 models</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2026-09-08T10:46:03.7690000Z</dcterms:created>
  <dcterms:modified xsi:type="dcterms:W3CDTF">2026-09-08T10:46:03.7690000Z</dcterms:modified>
</coreProperties>
</file>